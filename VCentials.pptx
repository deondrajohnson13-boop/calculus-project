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Nunito"/>
      <p:regular r:id="rId28"/>
      <p:bold r:id="rId29"/>
      <p:italic r:id="rId30"/>
      <p:boldItalic r:id="rId31"/>
    </p:embeddedFont>
    <p:embeddedFont>
      <p:font typeface="Poppins"/>
      <p:regular r:id="rId32"/>
      <p:bold r:id="rId33"/>
      <p:italic r:id="rId34"/>
      <p:boldItalic r:id="rId35"/>
    </p:embeddedFont>
    <p:embeddedFont>
      <p:font typeface="Lat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FCDDB1A-8CFE-4DEB-BFF6-DC99BD4012CE}">
  <a:tblStyle styleId="{2FCDDB1A-8CFE-4DEB-BFF6-DC99BD4012C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8E1ADB9-5750-402C-9FD7-23FEEBC8BEB6}"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Nunito-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Nunit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unito-boldItalic.fntdata"/><Relationship Id="rId30" Type="http://schemas.openxmlformats.org/officeDocument/2006/relationships/font" Target="fonts/Nunito-italic.fntdata"/><Relationship Id="rId11" Type="http://schemas.openxmlformats.org/officeDocument/2006/relationships/slide" Target="slides/slide5.xml"/><Relationship Id="rId33" Type="http://schemas.openxmlformats.org/officeDocument/2006/relationships/font" Target="fonts/Poppins-bold.fntdata"/><Relationship Id="rId10" Type="http://schemas.openxmlformats.org/officeDocument/2006/relationships/slide" Target="slides/slide4.xml"/><Relationship Id="rId32" Type="http://schemas.openxmlformats.org/officeDocument/2006/relationships/font" Target="fonts/Poppins-regular.fntdata"/><Relationship Id="rId13" Type="http://schemas.openxmlformats.org/officeDocument/2006/relationships/slide" Target="slides/slide7.xml"/><Relationship Id="rId35" Type="http://schemas.openxmlformats.org/officeDocument/2006/relationships/font" Target="fonts/Poppins-boldItalic.fntdata"/><Relationship Id="rId12" Type="http://schemas.openxmlformats.org/officeDocument/2006/relationships/slide" Target="slides/slide6.xml"/><Relationship Id="rId34" Type="http://schemas.openxmlformats.org/officeDocument/2006/relationships/font" Target="fonts/Poppins-italic.fntdata"/><Relationship Id="rId15" Type="http://schemas.openxmlformats.org/officeDocument/2006/relationships/slide" Target="slides/slide9.xml"/><Relationship Id="rId37" Type="http://schemas.openxmlformats.org/officeDocument/2006/relationships/font" Target="fonts/Lato-bold.fntdata"/><Relationship Id="rId14" Type="http://schemas.openxmlformats.org/officeDocument/2006/relationships/slide" Target="slides/slide8.xml"/><Relationship Id="rId36" Type="http://schemas.openxmlformats.org/officeDocument/2006/relationships/font" Target="fonts/Lato-regular.fntdata"/><Relationship Id="rId17" Type="http://schemas.openxmlformats.org/officeDocument/2006/relationships/slide" Target="slides/slide11.xml"/><Relationship Id="rId39" Type="http://schemas.openxmlformats.org/officeDocument/2006/relationships/font" Target="fonts/Lato-boldItalic.fntdata"/><Relationship Id="rId16" Type="http://schemas.openxmlformats.org/officeDocument/2006/relationships/slide" Target="slides/slide10.xml"/><Relationship Id="rId38" Type="http://schemas.openxmlformats.org/officeDocument/2006/relationships/font" Target="fonts/Lato-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912f2f79b1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912f2f79b1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912f2f79b1_1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912f2f79b1_1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912f2f79b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912f2f79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d3694629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ad3694629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9149e8f5e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9149e8f5e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912f2f79b1_1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912f2f79b1_1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912f2f79b1_1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912f2f79b1_1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912f2f79b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912f2f79b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d090de63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ad090de6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ceef2d8a7_3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ceef2d8a7_3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aceef2d8a7_3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aceef2d8a7_3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912f2f79b1_1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912f2f79b1_1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912f2f79b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912f2f79b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912f2f79b1_1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912f2f79b1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914e2ca12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914e2ca12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aceef2d8a7_3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aceef2d8a7_3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912f2f79b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g3912f2f79b1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912f2f79b1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912f2f79b1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9149e8f5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9149e8f5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aceef2d8a7_3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aceef2d8a7_3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3.png"/><Relationship Id="rId5"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815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Statistics Final Project</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55000"/>
          </a:bodyPr>
          <a:lstStyle/>
          <a:p>
            <a:pPr indent="0" lvl="0" marL="0" rtl="0" algn="ctr">
              <a:spcBef>
                <a:spcPts val="0"/>
              </a:spcBef>
              <a:spcAft>
                <a:spcPts val="0"/>
              </a:spcAft>
              <a:buNone/>
            </a:pPr>
            <a:r>
              <a:rPr lang="en-GB"/>
              <a:t>By: Mercedes </a:t>
            </a:r>
            <a:r>
              <a:rPr lang="en-GB"/>
              <a:t>Baveghems</a:t>
            </a:r>
            <a:r>
              <a:rPr lang="en-GB"/>
              <a:t>, Oliver Chalcraft, Ronald Dupuis, Christianna Hawkins, Oleksandra Holubenko, Deondra Johnson, Ethan Khan, Juliana Martinez Calvillo, Alexa Rump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311700" y="211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Abstract</a:t>
            </a:r>
            <a:endParaRPr b="1"/>
          </a:p>
        </p:txBody>
      </p:sp>
      <p:sp>
        <p:nvSpPr>
          <p:cNvPr id="61" name="Google Shape;61;p14"/>
          <p:cNvSpPr txBox="1"/>
          <p:nvPr>
            <p:ph idx="1" type="body"/>
          </p:nvPr>
        </p:nvSpPr>
        <p:spPr>
          <a:xfrm>
            <a:off x="311700" y="863550"/>
            <a:ext cx="8520600" cy="41685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GB">
                <a:solidFill>
                  <a:schemeClr val="dk1"/>
                </a:solidFill>
              </a:rPr>
              <a:t>Purpose:</a:t>
            </a:r>
            <a:r>
              <a:rPr lang="en-GB">
                <a:solidFill>
                  <a:schemeClr val="dk1"/>
                </a:solidFill>
              </a:rPr>
              <a:t> The purpose of our study at VCentials was to act as a </a:t>
            </a:r>
            <a:r>
              <a:rPr b="1" lang="en-GB">
                <a:solidFill>
                  <a:schemeClr val="dk1"/>
                </a:solidFill>
              </a:rPr>
              <a:t>continuation</a:t>
            </a:r>
            <a:r>
              <a:rPr lang="en-GB">
                <a:solidFill>
                  <a:schemeClr val="dk1"/>
                </a:solidFill>
              </a:rPr>
              <a:t> of Professor Chriswell’s Spring ‘25 class’s data and study. We still had the same goal of understanding </a:t>
            </a:r>
            <a:r>
              <a:rPr b="1" lang="en-GB">
                <a:solidFill>
                  <a:schemeClr val="dk1"/>
                </a:solidFill>
              </a:rPr>
              <a:t>why people left VCentials empty handed</a:t>
            </a:r>
            <a:r>
              <a:rPr lang="en-GB">
                <a:solidFill>
                  <a:schemeClr val="dk1"/>
                </a:solidFill>
              </a:rPr>
              <a:t>, but we wanted to specifically see if the improvements that were suggested in the conclusion of the </a:t>
            </a:r>
            <a:r>
              <a:rPr lang="en-GB">
                <a:solidFill>
                  <a:schemeClr val="dk1"/>
                </a:solidFill>
              </a:rPr>
              <a:t>original</a:t>
            </a:r>
            <a:r>
              <a:rPr lang="en-GB">
                <a:solidFill>
                  <a:schemeClr val="dk1"/>
                </a:solidFill>
              </a:rPr>
              <a:t> study were put into effect and how that </a:t>
            </a:r>
            <a:r>
              <a:rPr b="1" lang="en-GB">
                <a:solidFill>
                  <a:schemeClr val="dk1"/>
                </a:solidFill>
              </a:rPr>
              <a:t>impacted</a:t>
            </a:r>
            <a:r>
              <a:rPr lang="en-GB">
                <a:solidFill>
                  <a:schemeClr val="dk1"/>
                </a:solidFill>
              </a:rPr>
              <a:t> the amount of people leaving without anything. </a:t>
            </a:r>
            <a:endParaRPr>
              <a:solidFill>
                <a:schemeClr val="dk1"/>
              </a:solidFill>
            </a:endParaRPr>
          </a:p>
          <a:p>
            <a:pPr indent="0" lvl="0" marL="0" rtl="0" algn="l">
              <a:spcBef>
                <a:spcPts val="1200"/>
              </a:spcBef>
              <a:spcAft>
                <a:spcPts val="0"/>
              </a:spcAft>
              <a:buNone/>
            </a:pPr>
            <a:r>
              <a:rPr b="1" lang="en-GB">
                <a:solidFill>
                  <a:schemeClr val="dk1"/>
                </a:solidFill>
              </a:rPr>
              <a:t>Method:</a:t>
            </a:r>
            <a:r>
              <a:rPr lang="en-GB">
                <a:solidFill>
                  <a:schemeClr val="dk1"/>
                </a:solidFill>
              </a:rPr>
              <a:t> R</a:t>
            </a:r>
            <a:r>
              <a:rPr lang="en-GB">
                <a:solidFill>
                  <a:schemeClr val="dk1"/>
                </a:solidFill>
              </a:rPr>
              <a:t>eplication of Spring ‘25 process by collecting data through an </a:t>
            </a:r>
            <a:r>
              <a:rPr b="1" lang="en-GB">
                <a:solidFill>
                  <a:schemeClr val="dk1"/>
                </a:solidFill>
              </a:rPr>
              <a:t>observational study</a:t>
            </a:r>
            <a:r>
              <a:rPr lang="en-GB">
                <a:solidFill>
                  <a:schemeClr val="dk1"/>
                </a:solidFill>
              </a:rPr>
              <a:t> and having a </a:t>
            </a:r>
            <a:r>
              <a:rPr b="1" lang="en-GB">
                <a:solidFill>
                  <a:schemeClr val="dk1"/>
                </a:solidFill>
              </a:rPr>
              <a:t>questionnaire</a:t>
            </a:r>
            <a:r>
              <a:rPr lang="en-GB">
                <a:solidFill>
                  <a:schemeClr val="dk1"/>
                </a:solidFill>
              </a:rPr>
              <a:t> available for those who left VCentials without anything. </a:t>
            </a:r>
            <a:endParaRPr>
              <a:solidFill>
                <a:schemeClr val="dk1"/>
              </a:solidFill>
            </a:endParaRPr>
          </a:p>
          <a:p>
            <a:pPr indent="0" lvl="0" marL="0" rtl="0" algn="l">
              <a:spcBef>
                <a:spcPts val="1200"/>
              </a:spcBef>
              <a:spcAft>
                <a:spcPts val="0"/>
              </a:spcAft>
              <a:buNone/>
            </a:pPr>
            <a:r>
              <a:rPr b="1" lang="en-GB">
                <a:solidFill>
                  <a:schemeClr val="dk1"/>
                </a:solidFill>
              </a:rPr>
              <a:t>Conclusion:</a:t>
            </a:r>
            <a:r>
              <a:rPr lang="en-GB">
                <a:solidFill>
                  <a:schemeClr val="dk1"/>
                </a:solidFill>
              </a:rPr>
              <a:t> </a:t>
            </a:r>
            <a:r>
              <a:rPr b="1" lang="en-GB">
                <a:solidFill>
                  <a:schemeClr val="dk1"/>
                </a:solidFill>
              </a:rPr>
              <a:t>Increase </a:t>
            </a:r>
            <a:r>
              <a:rPr lang="en-GB">
                <a:solidFill>
                  <a:schemeClr val="dk1"/>
                </a:solidFill>
              </a:rPr>
              <a:t>in amount of people leaving VCentials without any items.</a:t>
            </a:r>
            <a:endParaRPr>
              <a:solidFill>
                <a:schemeClr val="dk1"/>
              </a:solidFill>
            </a:endParaRPr>
          </a:p>
          <a:p>
            <a:pPr indent="0" lvl="0" marL="0" rtl="0" algn="l">
              <a:spcBef>
                <a:spcPts val="1200"/>
              </a:spcBef>
              <a:spcAft>
                <a:spcPts val="1200"/>
              </a:spcAft>
              <a:buNone/>
            </a:pPr>
            <a:r>
              <a:rPr lang="en-GB">
                <a:solidFill>
                  <a:schemeClr val="dk1"/>
                </a:solidFill>
              </a:rPr>
              <a:t>*However the enrollment size of spring is significantly less than that of the fall semester. </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solidFill>
                  <a:srgbClr val="424242"/>
                </a:solidFill>
                <a:latin typeface="Nunito"/>
                <a:ea typeface="Nunito"/>
                <a:cs typeface="Nunito"/>
                <a:sym typeface="Nunito"/>
              </a:rPr>
              <a:t>Introduction</a:t>
            </a:r>
            <a:endParaRPr b="1">
              <a:solidFill>
                <a:srgbClr val="424242"/>
              </a:solidFill>
              <a:latin typeface="Nunito"/>
              <a:ea typeface="Nunito"/>
              <a:cs typeface="Nunito"/>
              <a:sym typeface="Nunito"/>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solidFill>
                  <a:schemeClr val="dk1"/>
                </a:solidFill>
              </a:rPr>
              <a:t>Background:</a:t>
            </a:r>
            <a:r>
              <a:rPr lang="en-GB">
                <a:solidFill>
                  <a:schemeClr val="dk1"/>
                </a:solidFill>
              </a:rPr>
              <a:t> VCentials </a:t>
            </a:r>
            <a:r>
              <a:rPr lang="en-GB">
                <a:solidFill>
                  <a:schemeClr val="dk1"/>
                </a:solidFill>
              </a:rPr>
              <a:t>provides</a:t>
            </a:r>
            <a:r>
              <a:rPr lang="en-GB">
                <a:solidFill>
                  <a:schemeClr val="dk1"/>
                </a:solidFill>
              </a:rPr>
              <a:t> free food and </a:t>
            </a:r>
            <a:r>
              <a:rPr lang="en-GB">
                <a:solidFill>
                  <a:schemeClr val="dk1"/>
                </a:solidFill>
              </a:rPr>
              <a:t>hygiene</a:t>
            </a:r>
            <a:r>
              <a:rPr lang="en-GB">
                <a:solidFill>
                  <a:schemeClr val="dk1"/>
                </a:solidFill>
              </a:rPr>
              <a:t> products to students and staff/faculty. A </a:t>
            </a:r>
            <a:r>
              <a:rPr lang="en-GB">
                <a:solidFill>
                  <a:schemeClr val="dk1"/>
                </a:solidFill>
              </a:rPr>
              <a:t>survey</a:t>
            </a:r>
            <a:r>
              <a:rPr lang="en-GB">
                <a:solidFill>
                  <a:schemeClr val="dk1"/>
                </a:solidFill>
              </a:rPr>
              <a:t> over the </a:t>
            </a:r>
            <a:r>
              <a:rPr lang="en-GB">
                <a:solidFill>
                  <a:schemeClr val="dk1"/>
                </a:solidFill>
              </a:rPr>
              <a:t>course</a:t>
            </a:r>
            <a:r>
              <a:rPr lang="en-GB">
                <a:solidFill>
                  <a:schemeClr val="dk1"/>
                </a:solidFill>
              </a:rPr>
              <a:t> of five weeks was done during the 2025 Spring semester to see why people were leaving VCentials without taking anything. </a:t>
            </a:r>
            <a:endParaRPr>
              <a:solidFill>
                <a:schemeClr val="dk1"/>
              </a:solidFill>
            </a:endParaRPr>
          </a:p>
          <a:p>
            <a:pPr indent="0" lvl="0" marL="0" rtl="0" algn="l">
              <a:spcBef>
                <a:spcPts val="1200"/>
              </a:spcBef>
              <a:spcAft>
                <a:spcPts val="0"/>
              </a:spcAft>
              <a:buNone/>
            </a:pPr>
            <a:r>
              <a:rPr b="1" lang="en-GB">
                <a:solidFill>
                  <a:schemeClr val="dk1"/>
                </a:solidFill>
              </a:rPr>
              <a:t>Problem:</a:t>
            </a:r>
            <a:r>
              <a:rPr lang="en-GB">
                <a:solidFill>
                  <a:schemeClr val="dk1"/>
                </a:solidFill>
              </a:rPr>
              <a:t> This is a </a:t>
            </a:r>
            <a:r>
              <a:rPr lang="en-GB">
                <a:solidFill>
                  <a:schemeClr val="dk1"/>
                </a:solidFill>
              </a:rPr>
              <a:t>follow</a:t>
            </a:r>
            <a:r>
              <a:rPr lang="en-GB">
                <a:solidFill>
                  <a:schemeClr val="dk1"/>
                </a:solidFill>
              </a:rPr>
              <a:t> up study to see how changes made at VCentials have impacted the amount of people who leave VCentials without </a:t>
            </a:r>
            <a:r>
              <a:rPr lang="en-GB">
                <a:solidFill>
                  <a:schemeClr val="dk1"/>
                </a:solidFill>
              </a:rPr>
              <a:t>anything.</a:t>
            </a:r>
            <a:endParaRPr>
              <a:solidFill>
                <a:schemeClr val="dk1"/>
              </a:solidFill>
            </a:endParaRPr>
          </a:p>
          <a:p>
            <a:pPr indent="0" lvl="0" marL="0" rtl="0" algn="l">
              <a:spcBef>
                <a:spcPts val="1200"/>
              </a:spcBef>
              <a:spcAft>
                <a:spcPts val="1200"/>
              </a:spcAft>
              <a:buNone/>
            </a:pPr>
            <a:r>
              <a:rPr b="1" lang="en-GB">
                <a:solidFill>
                  <a:schemeClr val="dk1"/>
                </a:solidFill>
              </a:rPr>
              <a:t>Research Questions:</a:t>
            </a:r>
            <a:r>
              <a:rPr lang="en-GB">
                <a:solidFill>
                  <a:schemeClr val="dk1"/>
                </a:solidFill>
              </a:rPr>
              <a:t> Why do people leave VCentials without anything and how </a:t>
            </a:r>
            <a:r>
              <a:rPr lang="en-GB">
                <a:solidFill>
                  <a:schemeClr val="dk1"/>
                </a:solidFill>
              </a:rPr>
              <a:t>does</a:t>
            </a:r>
            <a:r>
              <a:rPr lang="en-GB">
                <a:solidFill>
                  <a:schemeClr val="dk1"/>
                </a:solidFill>
              </a:rPr>
              <a:t> the data collected from the 2025 fall semester compare to data collected from the 2025 spring semester?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Methodology</a:t>
            </a:r>
            <a:endParaRPr b="1"/>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dk1"/>
                </a:solidFill>
              </a:rPr>
              <a:t>Our survey was conducted over a five-week period. Each team member was assigned a one-hour slot during VCentials’ operating hours to administer the survey to students and faculty who had not previously checked out an item.</a:t>
            </a:r>
            <a:endParaRPr>
              <a:solidFill>
                <a:schemeClr val="dk1"/>
              </a:solidFill>
            </a:endParaRPr>
          </a:p>
          <a:p>
            <a:pPr indent="0" lvl="0" marL="0" rtl="0" algn="l">
              <a:spcBef>
                <a:spcPts val="1200"/>
              </a:spcBef>
              <a:spcAft>
                <a:spcPts val="0"/>
              </a:spcAft>
              <a:buNone/>
            </a:pPr>
            <a:r>
              <a:rPr lang="en-GB">
                <a:solidFill>
                  <a:schemeClr val="dk1"/>
                </a:solidFill>
              </a:rPr>
              <a:t>The survey consisted of a few open response questions accessed by scanning a QR code on your phone. This survey was optional and people could always opt out of it.</a:t>
            </a:r>
            <a:endParaRPr>
              <a:solidFill>
                <a:schemeClr val="dk1"/>
              </a:solidFill>
            </a:endParaRPr>
          </a:p>
          <a:p>
            <a:pPr indent="0" lvl="0" marL="0" rtl="0" algn="l">
              <a:spcBef>
                <a:spcPts val="1200"/>
              </a:spcBef>
              <a:spcAft>
                <a:spcPts val="1200"/>
              </a:spcAft>
              <a:buNone/>
            </a:pPr>
            <a:r>
              <a:rPr lang="en-GB">
                <a:solidFill>
                  <a:schemeClr val="dk1"/>
                </a:solidFill>
              </a:rPr>
              <a:t>After this 5 week period we </a:t>
            </a:r>
            <a:r>
              <a:rPr lang="en-GB">
                <a:solidFill>
                  <a:schemeClr val="dk1"/>
                </a:solidFill>
              </a:rPr>
              <a:t>compiled all of the results and were then pasted into Excel Sheets to compare the outcomes from the past Spring Semester to the current Fall Semester. </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368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Ratio Comparison </a:t>
            </a:r>
            <a:endParaRPr/>
          </a:p>
        </p:txBody>
      </p:sp>
      <p:sp>
        <p:nvSpPr>
          <p:cNvPr id="79" name="Google Shape;79;p17"/>
          <p:cNvSpPr txBox="1"/>
          <p:nvPr>
            <p:ph idx="1" type="body"/>
          </p:nvPr>
        </p:nvSpPr>
        <p:spPr>
          <a:xfrm>
            <a:off x="1905200" y="1340300"/>
            <a:ext cx="1184700" cy="4980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lang="en-GB"/>
              <a:t>Spring ‘25</a:t>
            </a:r>
            <a:endParaRPr/>
          </a:p>
        </p:txBody>
      </p:sp>
      <p:graphicFrame>
        <p:nvGraphicFramePr>
          <p:cNvPr id="80" name="Google Shape;80;p17"/>
          <p:cNvGraphicFramePr/>
          <p:nvPr/>
        </p:nvGraphicFramePr>
        <p:xfrm>
          <a:off x="800150" y="1921600"/>
          <a:ext cx="3000000" cy="3000000"/>
        </p:xfrm>
        <a:graphic>
          <a:graphicData uri="http://schemas.openxmlformats.org/drawingml/2006/table">
            <a:tbl>
              <a:tblPr>
                <a:noFill/>
                <a:tableStyleId>{2FCDDB1A-8CFE-4DEB-BFF6-DC99BD4012CE}</a:tableStyleId>
              </a:tblPr>
              <a:tblGrid>
                <a:gridCol w="1697400"/>
                <a:gridCol w="1697400"/>
              </a:tblGrid>
              <a:tr h="458925">
                <a:tc>
                  <a:txBody>
                    <a:bodyPr/>
                    <a:lstStyle/>
                    <a:p>
                      <a:pPr indent="0" lvl="0" marL="0" rtl="0" algn="l">
                        <a:spcBef>
                          <a:spcPts val="0"/>
                        </a:spcBef>
                        <a:spcAft>
                          <a:spcPts val="0"/>
                        </a:spcAft>
                        <a:buNone/>
                      </a:pPr>
                      <a:r>
                        <a:rPr lang="en-GB"/>
                        <a:t>1</a:t>
                      </a:r>
                      <a:endParaRPr/>
                    </a:p>
                  </a:txBody>
                  <a:tcPr marT="91425" marB="91425" marR="91425" marL="91425"/>
                </a:tc>
                <a:tc>
                  <a:txBody>
                    <a:bodyPr/>
                    <a:lstStyle/>
                    <a:p>
                      <a:pPr indent="0" lvl="0" marL="0" rtl="0" algn="l">
                        <a:spcBef>
                          <a:spcPts val="0"/>
                        </a:spcBef>
                        <a:spcAft>
                          <a:spcPts val="0"/>
                        </a:spcAft>
                        <a:buNone/>
                      </a:pPr>
                      <a:r>
                        <a:rPr lang="en-GB"/>
                        <a:t>882</a:t>
                      </a:r>
                      <a:endParaRPr/>
                    </a:p>
                  </a:txBody>
                  <a:tcPr marT="91425" marB="91425" marR="91425" marL="91425"/>
                </a:tc>
              </a:tr>
              <a:tr h="458925">
                <a:tc>
                  <a:txBody>
                    <a:bodyPr/>
                    <a:lstStyle/>
                    <a:p>
                      <a:pPr indent="0" lvl="0" marL="0" rtl="0" algn="l">
                        <a:spcBef>
                          <a:spcPts val="0"/>
                        </a:spcBef>
                        <a:spcAft>
                          <a:spcPts val="0"/>
                        </a:spcAft>
                        <a:buNone/>
                      </a:pPr>
                      <a:r>
                        <a:rPr lang="en-GB"/>
                        <a:t>2</a:t>
                      </a:r>
                      <a:endParaRPr/>
                    </a:p>
                  </a:txBody>
                  <a:tcPr marT="91425" marB="91425" marR="91425" marL="91425"/>
                </a:tc>
                <a:tc>
                  <a:txBody>
                    <a:bodyPr/>
                    <a:lstStyle/>
                    <a:p>
                      <a:pPr indent="0" lvl="0" marL="0" rtl="0" algn="l">
                        <a:spcBef>
                          <a:spcPts val="0"/>
                        </a:spcBef>
                        <a:spcAft>
                          <a:spcPts val="0"/>
                        </a:spcAft>
                        <a:buNone/>
                      </a:pPr>
                      <a:r>
                        <a:rPr lang="en-GB"/>
                        <a:t>904</a:t>
                      </a:r>
                      <a:endParaRPr/>
                    </a:p>
                  </a:txBody>
                  <a:tcPr marT="91425" marB="91425" marR="91425" marL="91425"/>
                </a:tc>
              </a:tr>
              <a:tr h="458925">
                <a:tc>
                  <a:txBody>
                    <a:bodyPr/>
                    <a:lstStyle/>
                    <a:p>
                      <a:pPr indent="0" lvl="0" marL="0" rtl="0" algn="l">
                        <a:spcBef>
                          <a:spcPts val="0"/>
                        </a:spcBef>
                        <a:spcAft>
                          <a:spcPts val="0"/>
                        </a:spcAft>
                        <a:buNone/>
                      </a:pPr>
                      <a:r>
                        <a:rPr lang="en-GB"/>
                        <a:t>3</a:t>
                      </a:r>
                      <a:endParaRPr/>
                    </a:p>
                  </a:txBody>
                  <a:tcPr marT="91425" marB="91425" marR="91425" marL="91425"/>
                </a:tc>
                <a:tc>
                  <a:txBody>
                    <a:bodyPr/>
                    <a:lstStyle/>
                    <a:p>
                      <a:pPr indent="0" lvl="0" marL="0" rtl="0" algn="l">
                        <a:spcBef>
                          <a:spcPts val="0"/>
                        </a:spcBef>
                        <a:spcAft>
                          <a:spcPts val="0"/>
                        </a:spcAft>
                        <a:buNone/>
                      </a:pPr>
                      <a:r>
                        <a:rPr lang="en-GB"/>
                        <a:t>852</a:t>
                      </a:r>
                      <a:endParaRPr/>
                    </a:p>
                  </a:txBody>
                  <a:tcPr marT="91425" marB="91425" marR="91425" marL="91425"/>
                </a:tc>
              </a:tr>
              <a:tr h="458925">
                <a:tc>
                  <a:txBody>
                    <a:bodyPr/>
                    <a:lstStyle/>
                    <a:p>
                      <a:pPr indent="0" lvl="0" marL="0" rtl="0" algn="l">
                        <a:spcBef>
                          <a:spcPts val="0"/>
                        </a:spcBef>
                        <a:spcAft>
                          <a:spcPts val="0"/>
                        </a:spcAft>
                        <a:buNone/>
                      </a:pPr>
                      <a:r>
                        <a:rPr lang="en-GB"/>
                        <a:t>4</a:t>
                      </a:r>
                      <a:endParaRPr/>
                    </a:p>
                  </a:txBody>
                  <a:tcPr marT="91425" marB="91425" marR="91425" marL="91425"/>
                </a:tc>
                <a:tc>
                  <a:txBody>
                    <a:bodyPr/>
                    <a:lstStyle/>
                    <a:p>
                      <a:pPr indent="0" lvl="0" marL="0" rtl="0" algn="l">
                        <a:spcBef>
                          <a:spcPts val="0"/>
                        </a:spcBef>
                        <a:spcAft>
                          <a:spcPts val="0"/>
                        </a:spcAft>
                        <a:buNone/>
                      </a:pPr>
                      <a:r>
                        <a:rPr lang="en-GB"/>
                        <a:t>742</a:t>
                      </a:r>
                      <a:endParaRPr/>
                    </a:p>
                  </a:txBody>
                  <a:tcPr marT="91425" marB="91425" marR="91425" marL="91425"/>
                </a:tc>
              </a:tr>
              <a:tr h="458925">
                <a:tc>
                  <a:txBody>
                    <a:bodyPr/>
                    <a:lstStyle/>
                    <a:p>
                      <a:pPr indent="0" lvl="0" marL="0" rtl="0" algn="l">
                        <a:spcBef>
                          <a:spcPts val="0"/>
                        </a:spcBef>
                        <a:spcAft>
                          <a:spcPts val="0"/>
                        </a:spcAft>
                        <a:buNone/>
                      </a:pPr>
                      <a:r>
                        <a:rPr lang="en-GB"/>
                        <a:t>5</a:t>
                      </a:r>
                      <a:endParaRPr/>
                    </a:p>
                  </a:txBody>
                  <a:tcPr marT="91425" marB="91425" marR="91425" marL="91425"/>
                </a:tc>
                <a:tc>
                  <a:txBody>
                    <a:bodyPr/>
                    <a:lstStyle/>
                    <a:p>
                      <a:pPr indent="0" lvl="0" marL="0" rtl="0" algn="l">
                        <a:spcBef>
                          <a:spcPts val="0"/>
                        </a:spcBef>
                        <a:spcAft>
                          <a:spcPts val="0"/>
                        </a:spcAft>
                        <a:buNone/>
                      </a:pPr>
                      <a:r>
                        <a:rPr lang="en-GB"/>
                        <a:t>698</a:t>
                      </a:r>
                      <a:endParaRPr/>
                    </a:p>
                  </a:txBody>
                  <a:tcPr marT="91425" marB="91425" marR="91425" marL="91425"/>
                </a:tc>
              </a:tr>
            </a:tbl>
          </a:graphicData>
        </a:graphic>
      </p:graphicFrame>
      <p:graphicFrame>
        <p:nvGraphicFramePr>
          <p:cNvPr id="81" name="Google Shape;81;p17"/>
          <p:cNvGraphicFramePr/>
          <p:nvPr/>
        </p:nvGraphicFramePr>
        <p:xfrm>
          <a:off x="4724975" y="1921600"/>
          <a:ext cx="3000000" cy="3000000"/>
        </p:xfrm>
        <a:graphic>
          <a:graphicData uri="http://schemas.openxmlformats.org/drawingml/2006/table">
            <a:tbl>
              <a:tblPr>
                <a:noFill/>
                <a:tableStyleId>{2FCDDB1A-8CFE-4DEB-BFF6-DC99BD4012CE}</a:tableStyleId>
              </a:tblPr>
              <a:tblGrid>
                <a:gridCol w="1697400"/>
                <a:gridCol w="1697400"/>
              </a:tblGrid>
              <a:tr h="451750">
                <a:tc>
                  <a:txBody>
                    <a:bodyPr/>
                    <a:lstStyle/>
                    <a:p>
                      <a:pPr indent="0" lvl="0" marL="0" rtl="0" algn="l">
                        <a:spcBef>
                          <a:spcPts val="0"/>
                        </a:spcBef>
                        <a:spcAft>
                          <a:spcPts val="0"/>
                        </a:spcAft>
                        <a:buNone/>
                      </a:pPr>
                      <a:r>
                        <a:rPr lang="en-GB"/>
                        <a:t>1</a:t>
                      </a:r>
                      <a:endParaRPr/>
                    </a:p>
                  </a:txBody>
                  <a:tcPr marT="91425" marB="91425" marR="91425" marL="91425"/>
                </a:tc>
                <a:tc>
                  <a:txBody>
                    <a:bodyPr/>
                    <a:lstStyle/>
                    <a:p>
                      <a:pPr indent="0" lvl="0" marL="0" rtl="0" algn="l">
                        <a:spcBef>
                          <a:spcPts val="0"/>
                        </a:spcBef>
                        <a:spcAft>
                          <a:spcPts val="0"/>
                        </a:spcAft>
                        <a:buNone/>
                      </a:pPr>
                      <a:r>
                        <a:rPr lang="en-GB"/>
                        <a:t>1043</a:t>
                      </a:r>
                      <a:endParaRPr/>
                    </a:p>
                  </a:txBody>
                  <a:tcPr marT="91425" marB="91425" marR="91425" marL="91425"/>
                </a:tc>
              </a:tr>
              <a:tr h="451750">
                <a:tc>
                  <a:txBody>
                    <a:bodyPr/>
                    <a:lstStyle/>
                    <a:p>
                      <a:pPr indent="0" lvl="0" marL="0" rtl="0" algn="l">
                        <a:spcBef>
                          <a:spcPts val="0"/>
                        </a:spcBef>
                        <a:spcAft>
                          <a:spcPts val="0"/>
                        </a:spcAft>
                        <a:buNone/>
                      </a:pPr>
                      <a:r>
                        <a:rPr lang="en-GB"/>
                        <a:t>2</a:t>
                      </a:r>
                      <a:endParaRPr/>
                    </a:p>
                  </a:txBody>
                  <a:tcPr marT="91425" marB="91425" marR="91425" marL="91425"/>
                </a:tc>
                <a:tc>
                  <a:txBody>
                    <a:bodyPr/>
                    <a:lstStyle/>
                    <a:p>
                      <a:pPr indent="0" lvl="0" marL="0" rtl="0" algn="l">
                        <a:spcBef>
                          <a:spcPts val="0"/>
                        </a:spcBef>
                        <a:spcAft>
                          <a:spcPts val="0"/>
                        </a:spcAft>
                        <a:buNone/>
                      </a:pPr>
                      <a:r>
                        <a:rPr lang="en-GB"/>
                        <a:t>1000</a:t>
                      </a:r>
                      <a:endParaRPr/>
                    </a:p>
                  </a:txBody>
                  <a:tcPr marT="91425" marB="91425" marR="91425" marL="91425"/>
                </a:tc>
              </a:tr>
              <a:tr h="451750">
                <a:tc>
                  <a:txBody>
                    <a:bodyPr/>
                    <a:lstStyle/>
                    <a:p>
                      <a:pPr indent="0" lvl="0" marL="0" rtl="0" algn="l">
                        <a:spcBef>
                          <a:spcPts val="0"/>
                        </a:spcBef>
                        <a:spcAft>
                          <a:spcPts val="0"/>
                        </a:spcAft>
                        <a:buNone/>
                      </a:pPr>
                      <a:r>
                        <a:rPr lang="en-GB"/>
                        <a:t>3</a:t>
                      </a:r>
                      <a:endParaRPr/>
                    </a:p>
                  </a:txBody>
                  <a:tcPr marT="91425" marB="91425" marR="91425" marL="91425"/>
                </a:tc>
                <a:tc>
                  <a:txBody>
                    <a:bodyPr/>
                    <a:lstStyle/>
                    <a:p>
                      <a:pPr indent="0" lvl="0" marL="0" rtl="0" algn="l">
                        <a:spcBef>
                          <a:spcPts val="0"/>
                        </a:spcBef>
                        <a:spcAft>
                          <a:spcPts val="0"/>
                        </a:spcAft>
                        <a:buNone/>
                      </a:pPr>
                      <a:r>
                        <a:rPr lang="en-GB"/>
                        <a:t>1055</a:t>
                      </a:r>
                      <a:endParaRPr/>
                    </a:p>
                  </a:txBody>
                  <a:tcPr marT="91425" marB="91425" marR="91425" marL="91425"/>
                </a:tc>
              </a:tr>
              <a:tr h="451750">
                <a:tc>
                  <a:txBody>
                    <a:bodyPr/>
                    <a:lstStyle/>
                    <a:p>
                      <a:pPr indent="0" lvl="0" marL="0" rtl="0" algn="l">
                        <a:spcBef>
                          <a:spcPts val="0"/>
                        </a:spcBef>
                        <a:spcAft>
                          <a:spcPts val="0"/>
                        </a:spcAft>
                        <a:buNone/>
                      </a:pPr>
                      <a:r>
                        <a:rPr lang="en-GB"/>
                        <a:t>4</a:t>
                      </a:r>
                      <a:endParaRPr/>
                    </a:p>
                  </a:txBody>
                  <a:tcPr marT="91425" marB="91425" marR="91425" marL="91425"/>
                </a:tc>
                <a:tc>
                  <a:txBody>
                    <a:bodyPr/>
                    <a:lstStyle/>
                    <a:p>
                      <a:pPr indent="0" lvl="0" marL="0" rtl="0" algn="l">
                        <a:spcBef>
                          <a:spcPts val="0"/>
                        </a:spcBef>
                        <a:spcAft>
                          <a:spcPts val="0"/>
                        </a:spcAft>
                        <a:buNone/>
                      </a:pPr>
                      <a:r>
                        <a:rPr lang="en-GB"/>
                        <a:t>1046</a:t>
                      </a:r>
                      <a:endParaRPr/>
                    </a:p>
                  </a:txBody>
                  <a:tcPr marT="91425" marB="91425" marR="91425" marL="91425"/>
                </a:tc>
              </a:tr>
              <a:tr h="451750">
                <a:tc>
                  <a:txBody>
                    <a:bodyPr/>
                    <a:lstStyle/>
                    <a:p>
                      <a:pPr indent="0" lvl="0" marL="0" rtl="0" algn="l">
                        <a:spcBef>
                          <a:spcPts val="0"/>
                        </a:spcBef>
                        <a:spcAft>
                          <a:spcPts val="0"/>
                        </a:spcAft>
                        <a:buNone/>
                      </a:pPr>
                      <a:r>
                        <a:rPr lang="en-GB"/>
                        <a:t>5</a:t>
                      </a:r>
                      <a:endParaRPr/>
                    </a:p>
                  </a:txBody>
                  <a:tcPr marT="91425" marB="91425" marR="91425" marL="91425"/>
                </a:tc>
                <a:tc>
                  <a:txBody>
                    <a:bodyPr/>
                    <a:lstStyle/>
                    <a:p>
                      <a:pPr indent="0" lvl="0" marL="0" rtl="0" algn="l">
                        <a:spcBef>
                          <a:spcPts val="0"/>
                        </a:spcBef>
                        <a:spcAft>
                          <a:spcPts val="0"/>
                        </a:spcAft>
                        <a:buNone/>
                      </a:pPr>
                      <a:r>
                        <a:rPr lang="en-GB"/>
                        <a:t>845</a:t>
                      </a:r>
                      <a:endParaRPr/>
                    </a:p>
                  </a:txBody>
                  <a:tcPr marT="91425" marB="91425" marR="91425" marL="91425"/>
                </a:tc>
              </a:tr>
            </a:tbl>
          </a:graphicData>
        </a:graphic>
      </p:graphicFrame>
      <p:sp>
        <p:nvSpPr>
          <p:cNvPr id="82" name="Google Shape;82;p17"/>
          <p:cNvSpPr txBox="1"/>
          <p:nvPr/>
        </p:nvSpPr>
        <p:spPr>
          <a:xfrm>
            <a:off x="5942975" y="1366250"/>
            <a:ext cx="958800" cy="44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Fall ‘25</a:t>
            </a:r>
            <a:endParaRPr sz="1800">
              <a:solidFill>
                <a:schemeClr val="dk2"/>
              </a:solidFill>
            </a:endParaRPr>
          </a:p>
        </p:txBody>
      </p:sp>
      <p:sp>
        <p:nvSpPr>
          <p:cNvPr id="83" name="Google Shape;83;p17"/>
          <p:cNvSpPr txBox="1"/>
          <p:nvPr/>
        </p:nvSpPr>
        <p:spPr>
          <a:xfrm>
            <a:off x="1622550" y="868250"/>
            <a:ext cx="5898900" cy="49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Amount of people who entered VCentials week-by-week</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0"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GB" sz="2320"/>
              <a:t>Ratio Comparison A</a:t>
            </a:r>
            <a:r>
              <a:rPr lang="en-GB" sz="2320"/>
              <a:t>nalysis</a:t>
            </a:r>
            <a:endParaRPr sz="2320"/>
          </a:p>
        </p:txBody>
      </p:sp>
      <p:graphicFrame>
        <p:nvGraphicFramePr>
          <p:cNvPr id="89" name="Google Shape;89;p18"/>
          <p:cNvGraphicFramePr/>
          <p:nvPr/>
        </p:nvGraphicFramePr>
        <p:xfrm>
          <a:off x="244900" y="1010175"/>
          <a:ext cx="3000000" cy="3000000"/>
        </p:xfrm>
        <a:graphic>
          <a:graphicData uri="http://schemas.openxmlformats.org/drawingml/2006/table">
            <a:tbl>
              <a:tblPr>
                <a:noFill/>
                <a:tableStyleId>{88E1ADB9-5750-402C-9FD7-23FEEBC8BEB6}</a:tableStyleId>
              </a:tblPr>
              <a:tblGrid>
                <a:gridCol w="1041525"/>
                <a:gridCol w="1749725"/>
                <a:gridCol w="1353925"/>
              </a:tblGrid>
              <a:tr h="437300">
                <a:tc>
                  <a:txBody>
                    <a:bodyPr/>
                    <a:lstStyle/>
                    <a:p>
                      <a:pPr indent="0" lvl="0" marL="0" rtl="0" algn="ctr">
                        <a:lnSpc>
                          <a:spcPct val="115000"/>
                        </a:lnSpc>
                        <a:spcBef>
                          <a:spcPts val="0"/>
                        </a:spcBef>
                        <a:spcAft>
                          <a:spcPts val="0"/>
                        </a:spcAft>
                        <a:buNone/>
                      </a:pPr>
                      <a:r>
                        <a:rPr b="1" lang="en-GB" sz="1100"/>
                        <a:t>Week</a:t>
                      </a:r>
                      <a:endParaRPr b="1" sz="1100"/>
                    </a:p>
                  </a:txBody>
                  <a:tcPr marT="91425" marB="91425" marR="91425" marL="91425"/>
                </a:tc>
                <a:tc>
                  <a:txBody>
                    <a:bodyPr/>
                    <a:lstStyle/>
                    <a:p>
                      <a:pPr indent="0" lvl="0" marL="0" rtl="0" algn="ctr">
                        <a:lnSpc>
                          <a:spcPct val="115000"/>
                        </a:lnSpc>
                        <a:spcBef>
                          <a:spcPts val="0"/>
                        </a:spcBef>
                        <a:spcAft>
                          <a:spcPts val="0"/>
                        </a:spcAft>
                        <a:buNone/>
                      </a:pPr>
                      <a:r>
                        <a:rPr b="1" lang="en-GB" sz="1100"/>
                        <a:t>Amount of People Who were served Overall (</a:t>
                      </a:r>
                      <a:r>
                        <a:rPr b="1" lang="en-GB" sz="1100"/>
                        <a:t>Spring 2025)</a:t>
                      </a:r>
                      <a:endParaRPr b="1" sz="1100"/>
                    </a:p>
                  </a:txBody>
                  <a:tcPr marT="91425" marB="91425" marR="91425" marL="91425"/>
                </a:tc>
                <a:tc>
                  <a:txBody>
                    <a:bodyPr/>
                    <a:lstStyle/>
                    <a:p>
                      <a:pPr indent="0" lvl="0" marL="0" rtl="0" algn="ctr">
                        <a:lnSpc>
                          <a:spcPct val="115000"/>
                        </a:lnSpc>
                        <a:spcBef>
                          <a:spcPts val="0"/>
                        </a:spcBef>
                        <a:spcAft>
                          <a:spcPts val="0"/>
                        </a:spcAft>
                        <a:buNone/>
                      </a:pPr>
                      <a:r>
                        <a:rPr b="1" lang="en-GB" sz="1100">
                          <a:solidFill>
                            <a:schemeClr val="dk1"/>
                          </a:solidFill>
                        </a:rPr>
                        <a:t>Amount of People Who were served Overall (</a:t>
                      </a:r>
                      <a:r>
                        <a:rPr b="1" lang="en-GB" sz="1100"/>
                        <a:t>Fall 2025)</a:t>
                      </a:r>
                      <a:endParaRPr b="1" sz="1100"/>
                    </a:p>
                  </a:txBody>
                  <a:tcPr marT="91425" marB="91425" marR="91425" marL="91425"/>
                </a:tc>
              </a:tr>
              <a:tr h="459625">
                <a:tc>
                  <a:txBody>
                    <a:bodyPr/>
                    <a:lstStyle/>
                    <a:p>
                      <a:pPr indent="0" lvl="0" marL="0" rtl="0" algn="l">
                        <a:spcBef>
                          <a:spcPts val="0"/>
                        </a:spcBef>
                        <a:spcAft>
                          <a:spcPts val="0"/>
                        </a:spcAft>
                        <a:buNone/>
                      </a:pPr>
                      <a:r>
                        <a:rPr lang="en-GB"/>
                        <a:t>Week 1</a:t>
                      </a:r>
                      <a:endParaRPr/>
                    </a:p>
                  </a:txBody>
                  <a:tcPr marT="91425" marB="91425" marR="91425" marL="91425"/>
                </a:tc>
                <a:tc>
                  <a:txBody>
                    <a:bodyPr/>
                    <a:lstStyle/>
                    <a:p>
                      <a:pPr indent="0" lvl="0" marL="0" rtl="0" algn="l">
                        <a:spcBef>
                          <a:spcPts val="0"/>
                        </a:spcBef>
                        <a:spcAft>
                          <a:spcPts val="0"/>
                        </a:spcAft>
                        <a:buNone/>
                      </a:pPr>
                      <a:r>
                        <a:rPr lang="en-GB"/>
                        <a:t>        882</a:t>
                      </a:r>
                      <a:endParaRPr/>
                    </a:p>
                  </a:txBody>
                  <a:tcPr marT="91425" marB="91425" marR="91425" marL="91425"/>
                </a:tc>
                <a:tc>
                  <a:txBody>
                    <a:bodyPr/>
                    <a:lstStyle/>
                    <a:p>
                      <a:pPr indent="0" lvl="0" marL="0" rtl="0" algn="l">
                        <a:spcBef>
                          <a:spcPts val="0"/>
                        </a:spcBef>
                        <a:spcAft>
                          <a:spcPts val="0"/>
                        </a:spcAft>
                        <a:buNone/>
                      </a:pPr>
                      <a:r>
                        <a:rPr lang="en-GB"/>
                        <a:t>1043</a:t>
                      </a:r>
                      <a:endParaRPr/>
                    </a:p>
                  </a:txBody>
                  <a:tcPr marT="91425" marB="91425" marR="91425" marL="91425"/>
                </a:tc>
              </a:tr>
              <a:tr h="459625">
                <a:tc>
                  <a:txBody>
                    <a:bodyPr/>
                    <a:lstStyle/>
                    <a:p>
                      <a:pPr indent="0" lvl="0" marL="0" rtl="0" algn="l">
                        <a:spcBef>
                          <a:spcPts val="0"/>
                        </a:spcBef>
                        <a:spcAft>
                          <a:spcPts val="0"/>
                        </a:spcAft>
                        <a:buNone/>
                      </a:pPr>
                      <a:r>
                        <a:rPr lang="en-GB"/>
                        <a:t>Week 2</a:t>
                      </a:r>
                      <a:endParaRPr/>
                    </a:p>
                  </a:txBody>
                  <a:tcPr marT="91425" marB="91425" marR="91425" marL="91425"/>
                </a:tc>
                <a:tc>
                  <a:txBody>
                    <a:bodyPr/>
                    <a:lstStyle/>
                    <a:p>
                      <a:pPr indent="0" lvl="0" marL="0" rtl="0" algn="l">
                        <a:spcBef>
                          <a:spcPts val="0"/>
                        </a:spcBef>
                        <a:spcAft>
                          <a:spcPts val="0"/>
                        </a:spcAft>
                        <a:buNone/>
                      </a:pPr>
                      <a:r>
                        <a:rPr lang="en-GB"/>
                        <a:t>        904</a:t>
                      </a:r>
                      <a:endParaRPr/>
                    </a:p>
                  </a:txBody>
                  <a:tcPr marT="91425" marB="91425" marR="91425" marL="91425"/>
                </a:tc>
                <a:tc>
                  <a:txBody>
                    <a:bodyPr/>
                    <a:lstStyle/>
                    <a:p>
                      <a:pPr indent="0" lvl="0" marL="0" rtl="0" algn="l">
                        <a:spcBef>
                          <a:spcPts val="0"/>
                        </a:spcBef>
                        <a:spcAft>
                          <a:spcPts val="0"/>
                        </a:spcAft>
                        <a:buNone/>
                      </a:pPr>
                      <a:r>
                        <a:rPr lang="en-GB"/>
                        <a:t>1000</a:t>
                      </a:r>
                      <a:endParaRPr/>
                    </a:p>
                  </a:txBody>
                  <a:tcPr marT="91425" marB="91425" marR="91425" marL="91425"/>
                </a:tc>
              </a:tr>
              <a:tr h="459625">
                <a:tc>
                  <a:txBody>
                    <a:bodyPr/>
                    <a:lstStyle/>
                    <a:p>
                      <a:pPr indent="0" lvl="0" marL="0" rtl="0" algn="l">
                        <a:spcBef>
                          <a:spcPts val="0"/>
                        </a:spcBef>
                        <a:spcAft>
                          <a:spcPts val="0"/>
                        </a:spcAft>
                        <a:buNone/>
                      </a:pPr>
                      <a:r>
                        <a:rPr lang="en-GB"/>
                        <a:t>Week 3</a:t>
                      </a:r>
                      <a:endParaRPr/>
                    </a:p>
                  </a:txBody>
                  <a:tcPr marT="91425" marB="91425" marR="91425" marL="91425"/>
                </a:tc>
                <a:tc>
                  <a:txBody>
                    <a:bodyPr/>
                    <a:lstStyle/>
                    <a:p>
                      <a:pPr indent="0" lvl="0" marL="0" rtl="0" algn="l">
                        <a:spcBef>
                          <a:spcPts val="0"/>
                        </a:spcBef>
                        <a:spcAft>
                          <a:spcPts val="0"/>
                        </a:spcAft>
                        <a:buNone/>
                      </a:pPr>
                      <a:r>
                        <a:rPr lang="en-GB"/>
                        <a:t>       852</a:t>
                      </a:r>
                      <a:endParaRPr/>
                    </a:p>
                  </a:txBody>
                  <a:tcPr marT="91425" marB="91425" marR="91425" marL="91425"/>
                </a:tc>
                <a:tc>
                  <a:txBody>
                    <a:bodyPr/>
                    <a:lstStyle/>
                    <a:p>
                      <a:pPr indent="0" lvl="0" marL="0" rtl="0" algn="l">
                        <a:spcBef>
                          <a:spcPts val="0"/>
                        </a:spcBef>
                        <a:spcAft>
                          <a:spcPts val="0"/>
                        </a:spcAft>
                        <a:buNone/>
                      </a:pPr>
                      <a:r>
                        <a:rPr lang="en-GB"/>
                        <a:t>1055</a:t>
                      </a:r>
                      <a:endParaRPr/>
                    </a:p>
                  </a:txBody>
                  <a:tcPr marT="91425" marB="91425" marR="91425" marL="91425"/>
                </a:tc>
              </a:tr>
              <a:tr h="459625">
                <a:tc>
                  <a:txBody>
                    <a:bodyPr/>
                    <a:lstStyle/>
                    <a:p>
                      <a:pPr indent="0" lvl="0" marL="0" rtl="0" algn="l">
                        <a:spcBef>
                          <a:spcPts val="0"/>
                        </a:spcBef>
                        <a:spcAft>
                          <a:spcPts val="0"/>
                        </a:spcAft>
                        <a:buNone/>
                      </a:pPr>
                      <a:r>
                        <a:rPr lang="en-GB"/>
                        <a:t>Week 4</a:t>
                      </a:r>
                      <a:endParaRPr/>
                    </a:p>
                  </a:txBody>
                  <a:tcPr marT="91425" marB="91425" marR="91425" marL="91425"/>
                </a:tc>
                <a:tc>
                  <a:txBody>
                    <a:bodyPr/>
                    <a:lstStyle/>
                    <a:p>
                      <a:pPr indent="0" lvl="0" marL="0" rtl="0" algn="l">
                        <a:spcBef>
                          <a:spcPts val="0"/>
                        </a:spcBef>
                        <a:spcAft>
                          <a:spcPts val="0"/>
                        </a:spcAft>
                        <a:buNone/>
                      </a:pPr>
                      <a:r>
                        <a:rPr lang="en-GB"/>
                        <a:t>       742</a:t>
                      </a:r>
                      <a:endParaRPr/>
                    </a:p>
                  </a:txBody>
                  <a:tcPr marT="91425" marB="91425" marR="91425" marL="91425"/>
                </a:tc>
                <a:tc>
                  <a:txBody>
                    <a:bodyPr/>
                    <a:lstStyle/>
                    <a:p>
                      <a:pPr indent="0" lvl="0" marL="0" rtl="0" algn="l">
                        <a:spcBef>
                          <a:spcPts val="0"/>
                        </a:spcBef>
                        <a:spcAft>
                          <a:spcPts val="0"/>
                        </a:spcAft>
                        <a:buNone/>
                      </a:pPr>
                      <a:r>
                        <a:rPr lang="en-GB"/>
                        <a:t>1046</a:t>
                      </a:r>
                      <a:endParaRPr/>
                    </a:p>
                  </a:txBody>
                  <a:tcPr marT="91425" marB="91425" marR="91425" marL="91425"/>
                </a:tc>
              </a:tr>
              <a:tr h="459625">
                <a:tc>
                  <a:txBody>
                    <a:bodyPr/>
                    <a:lstStyle/>
                    <a:p>
                      <a:pPr indent="0" lvl="0" marL="0" rtl="0" algn="l">
                        <a:spcBef>
                          <a:spcPts val="0"/>
                        </a:spcBef>
                        <a:spcAft>
                          <a:spcPts val="0"/>
                        </a:spcAft>
                        <a:buNone/>
                      </a:pPr>
                      <a:r>
                        <a:rPr lang="en-GB"/>
                        <a:t>Week 5</a:t>
                      </a:r>
                      <a:endParaRPr/>
                    </a:p>
                  </a:txBody>
                  <a:tcPr marT="91425" marB="91425" marR="91425" marL="91425"/>
                </a:tc>
                <a:tc>
                  <a:txBody>
                    <a:bodyPr/>
                    <a:lstStyle/>
                    <a:p>
                      <a:pPr indent="0" lvl="0" marL="0" rtl="0" algn="l">
                        <a:spcBef>
                          <a:spcPts val="0"/>
                        </a:spcBef>
                        <a:spcAft>
                          <a:spcPts val="0"/>
                        </a:spcAft>
                        <a:buNone/>
                      </a:pPr>
                      <a:r>
                        <a:rPr lang="en-GB"/>
                        <a:t>       698</a:t>
                      </a:r>
                      <a:endParaRPr/>
                    </a:p>
                  </a:txBody>
                  <a:tcPr marT="91425" marB="91425" marR="91425" marL="91425"/>
                </a:tc>
                <a:tc>
                  <a:txBody>
                    <a:bodyPr/>
                    <a:lstStyle/>
                    <a:p>
                      <a:pPr indent="0" lvl="0" marL="0" rtl="0" algn="l">
                        <a:spcBef>
                          <a:spcPts val="0"/>
                        </a:spcBef>
                        <a:spcAft>
                          <a:spcPts val="0"/>
                        </a:spcAft>
                        <a:buNone/>
                      </a:pPr>
                      <a:r>
                        <a:rPr lang="en-GB"/>
                        <a:t>845</a:t>
                      </a:r>
                      <a:endParaRPr/>
                    </a:p>
                  </a:txBody>
                  <a:tcPr marT="91425" marB="91425" marR="91425" marL="91425"/>
                </a:tc>
              </a:tr>
            </a:tbl>
          </a:graphicData>
        </a:graphic>
      </p:graphicFrame>
      <p:sp>
        <p:nvSpPr>
          <p:cNvPr id="90" name="Google Shape;90;p18"/>
          <p:cNvSpPr txBox="1"/>
          <p:nvPr/>
        </p:nvSpPr>
        <p:spPr>
          <a:xfrm>
            <a:off x="881725" y="556368"/>
            <a:ext cx="5360400" cy="834900"/>
          </a:xfrm>
          <a:prstGeom prst="rect">
            <a:avLst/>
          </a:prstGeom>
          <a:noFill/>
          <a:ln>
            <a:noFill/>
          </a:ln>
        </p:spPr>
        <p:txBody>
          <a:bodyPr anchorCtr="0" anchor="ctr" bIns="91425" lIns="91425" spcFirstLastPara="1" rIns="91425" wrap="square" tIns="91425">
            <a:spAutoFit/>
          </a:bodyPr>
          <a:lstStyle/>
          <a:p>
            <a:pPr indent="0" lvl="0" marL="0" rtl="0" algn="l">
              <a:lnSpc>
                <a:spcPct val="115000"/>
              </a:lnSpc>
              <a:spcBef>
                <a:spcPts val="1200"/>
              </a:spcBef>
              <a:spcAft>
                <a:spcPts val="0"/>
              </a:spcAft>
              <a:buNone/>
            </a:pPr>
            <a:r>
              <a:rPr b="1" lang="en-GB" sz="1500" u="sng"/>
              <a:t>Fall 2025 vs. Spring 2025 Ratio Comparison</a:t>
            </a:r>
            <a:endParaRPr b="1" sz="1500" u="sng"/>
          </a:p>
          <a:p>
            <a:pPr indent="0" lvl="0" marL="0" rtl="0" algn="l">
              <a:spcBef>
                <a:spcPts val="1200"/>
              </a:spcBef>
              <a:spcAft>
                <a:spcPts val="0"/>
              </a:spcAft>
              <a:buNone/>
            </a:pPr>
            <a:r>
              <a:t/>
            </a:r>
            <a:endParaRPr sz="1500" u="sng"/>
          </a:p>
        </p:txBody>
      </p:sp>
      <p:sp>
        <p:nvSpPr>
          <p:cNvPr id="91" name="Google Shape;91;p18"/>
          <p:cNvSpPr txBox="1"/>
          <p:nvPr/>
        </p:nvSpPr>
        <p:spPr>
          <a:xfrm>
            <a:off x="5853793" y="695075"/>
            <a:ext cx="3126900" cy="39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sz="1500">
                <a:solidFill>
                  <a:schemeClr val="dk1"/>
                </a:solidFill>
              </a:rPr>
              <a:t>The ratio comparison between Spring 2025 and Fall 2025 shows a consistent increase in the total number of people served across all five weeks. Fall numbers were higher each week, ranging from an 11% increase in Week 2 to a 41% increase in Week 4, which showed the largest jump. Overall, the data clearly indicates that VCentials served significantly more individuals during the Fall semester compared to the Spring semester.</a:t>
            </a:r>
            <a:endParaRPr sz="1500">
              <a:solidFill>
                <a:schemeClr val="dk1"/>
              </a:solidFill>
            </a:endParaRPr>
          </a:p>
          <a:p>
            <a:pPr indent="0" lvl="0" marL="0" rtl="0" algn="l">
              <a:spcBef>
                <a:spcPts val="1200"/>
              </a:spcBef>
              <a:spcAft>
                <a:spcPts val="0"/>
              </a:spcAft>
              <a:buNone/>
            </a:pPr>
            <a:r>
              <a:t/>
            </a:r>
            <a:endParaRPr sz="1500">
              <a:solidFill>
                <a:schemeClr val="dk1"/>
              </a:solidFill>
            </a:endParaRPr>
          </a:p>
        </p:txBody>
      </p:sp>
      <p:pic>
        <p:nvPicPr>
          <p:cNvPr id="92" name="Google Shape;92;p18" title="Screenshot 2025-12-03 at 3.33.34 PM.png"/>
          <p:cNvPicPr preferRelativeResize="0"/>
          <p:nvPr/>
        </p:nvPicPr>
        <p:blipFill rotWithShape="1">
          <a:blip r:embed="rId3">
            <a:alphaModFix/>
          </a:blip>
          <a:srcRect b="3150" l="0" r="18593" t="-3150"/>
          <a:stretch/>
        </p:blipFill>
        <p:spPr>
          <a:xfrm>
            <a:off x="4316550" y="1075275"/>
            <a:ext cx="1292325" cy="3112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6" name="Shape 96"/>
        <p:cNvGrpSpPr/>
        <p:nvPr/>
      </p:nvGrpSpPr>
      <p:grpSpPr>
        <a:xfrm>
          <a:off x="0" y="0"/>
          <a:ext cx="0" cy="0"/>
          <a:chOff x="0" y="0"/>
          <a:chExt cx="0" cy="0"/>
        </a:xfrm>
      </p:grpSpPr>
      <p:sp>
        <p:nvSpPr>
          <p:cNvPr id="97" name="Google Shape;9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Fall 2025 Data </a:t>
            </a:r>
            <a:endParaRPr/>
          </a:p>
        </p:txBody>
      </p:sp>
      <p:sp>
        <p:nvSpPr>
          <p:cNvPr id="98" name="Google Shape;98;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9" name="Google Shape;99;p19"/>
          <p:cNvPicPr preferRelativeResize="0"/>
          <p:nvPr/>
        </p:nvPicPr>
        <p:blipFill>
          <a:blip r:embed="rId4">
            <a:alphaModFix/>
          </a:blip>
          <a:stretch>
            <a:fillRect/>
          </a:stretch>
        </p:blipFill>
        <p:spPr>
          <a:xfrm>
            <a:off x="311696" y="1152475"/>
            <a:ext cx="8520600" cy="3416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Spring 2025 Data</a:t>
            </a:r>
            <a:endParaRPr/>
          </a:p>
        </p:txBody>
      </p:sp>
      <p:sp>
        <p:nvSpPr>
          <p:cNvPr id="105" name="Google Shape;105;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6" name="Google Shape;106;p20"/>
          <p:cNvPicPr preferRelativeResize="0"/>
          <p:nvPr/>
        </p:nvPicPr>
        <p:blipFill>
          <a:blip r:embed="rId3">
            <a:alphaModFix/>
          </a:blip>
          <a:stretch>
            <a:fillRect/>
          </a:stretch>
        </p:blipFill>
        <p:spPr>
          <a:xfrm>
            <a:off x="193625" y="1111000"/>
            <a:ext cx="4591050" cy="3457875"/>
          </a:xfrm>
          <a:prstGeom prst="rect">
            <a:avLst/>
          </a:prstGeom>
          <a:noFill/>
          <a:ln>
            <a:noFill/>
          </a:ln>
        </p:spPr>
      </p:pic>
      <p:pic>
        <p:nvPicPr>
          <p:cNvPr id="107" name="Google Shape;107;p20" title="Screen Shot 2025-12-01 at 3.59.07 PM.png"/>
          <p:cNvPicPr preferRelativeResize="0"/>
          <p:nvPr/>
        </p:nvPicPr>
        <p:blipFill>
          <a:blip r:embed="rId4">
            <a:alphaModFix/>
          </a:blip>
          <a:stretch>
            <a:fillRect/>
          </a:stretch>
        </p:blipFill>
        <p:spPr>
          <a:xfrm>
            <a:off x="4834275" y="1152475"/>
            <a:ext cx="4309724" cy="34968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Comparison Raw</a:t>
            </a:r>
            <a:r>
              <a:rPr lang="en-GB"/>
              <a:t> Data between Spring 2025 and Fall 2025</a:t>
            </a:r>
            <a:endParaRPr/>
          </a:p>
        </p:txBody>
      </p:sp>
      <p:sp>
        <p:nvSpPr>
          <p:cNvPr id="113" name="Google Shape;11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4" name="Google Shape;114;p21"/>
          <p:cNvPicPr preferRelativeResize="0"/>
          <p:nvPr/>
        </p:nvPicPr>
        <p:blipFill>
          <a:blip r:embed="rId3">
            <a:alphaModFix/>
          </a:blip>
          <a:stretch>
            <a:fillRect/>
          </a:stretch>
        </p:blipFill>
        <p:spPr>
          <a:xfrm>
            <a:off x="249850" y="1288400"/>
            <a:ext cx="8520600" cy="3687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Ratio of people leaving w/o an item in Spring 2025</a:t>
            </a:r>
            <a:endParaRPr/>
          </a:p>
        </p:txBody>
      </p:sp>
      <p:pic>
        <p:nvPicPr>
          <p:cNvPr id="120" name="Google Shape;120;p22"/>
          <p:cNvPicPr preferRelativeResize="0"/>
          <p:nvPr/>
        </p:nvPicPr>
        <p:blipFill>
          <a:blip r:embed="rId3">
            <a:alphaModFix/>
          </a:blip>
          <a:stretch>
            <a:fillRect/>
          </a:stretch>
        </p:blipFill>
        <p:spPr>
          <a:xfrm>
            <a:off x="877550" y="1253753"/>
            <a:ext cx="7388900" cy="3528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title"/>
          </p:nvPr>
        </p:nvSpPr>
        <p:spPr>
          <a:xfrm>
            <a:off x="311700" y="445025"/>
            <a:ext cx="8520600" cy="366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GB"/>
              <a:t>Ratio of people leaving w/o an item in Fall 2025</a:t>
            </a:r>
            <a:endParaRPr/>
          </a:p>
        </p:txBody>
      </p:sp>
      <p:pic>
        <p:nvPicPr>
          <p:cNvPr id="126" name="Google Shape;126;p23"/>
          <p:cNvPicPr preferRelativeResize="0"/>
          <p:nvPr/>
        </p:nvPicPr>
        <p:blipFill>
          <a:blip r:embed="rId3">
            <a:alphaModFix/>
          </a:blip>
          <a:stretch>
            <a:fillRect/>
          </a:stretch>
        </p:blipFill>
        <p:spPr>
          <a:xfrm>
            <a:off x="311700" y="1191775"/>
            <a:ext cx="7988074" cy="3337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Weekly Comparisons for Spring and Fall</a:t>
            </a:r>
            <a:endParaRPr/>
          </a:p>
        </p:txBody>
      </p:sp>
      <p:sp>
        <p:nvSpPr>
          <p:cNvPr id="132" name="Google Shape;132;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3" name="Google Shape;133;p24"/>
          <p:cNvPicPr preferRelativeResize="0"/>
          <p:nvPr/>
        </p:nvPicPr>
        <p:blipFill>
          <a:blip r:embed="rId3">
            <a:alphaModFix/>
          </a:blip>
          <a:stretch>
            <a:fillRect/>
          </a:stretch>
        </p:blipFill>
        <p:spPr>
          <a:xfrm>
            <a:off x="396800" y="1291725"/>
            <a:ext cx="6830425" cy="3009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Student Enrollment based on semester</a:t>
            </a:r>
            <a:endParaRPr/>
          </a:p>
        </p:txBody>
      </p:sp>
      <p:sp>
        <p:nvSpPr>
          <p:cNvPr id="139" name="Google Shape;139;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pic>
        <p:nvPicPr>
          <p:cNvPr id="140" name="Google Shape;140;p25" title="Screen Shot 2025-12-03 at 3.04.34 PM.png"/>
          <p:cNvPicPr preferRelativeResize="0"/>
          <p:nvPr/>
        </p:nvPicPr>
        <p:blipFill>
          <a:blip r:embed="rId3">
            <a:alphaModFix/>
          </a:blip>
          <a:stretch>
            <a:fillRect/>
          </a:stretch>
        </p:blipFill>
        <p:spPr>
          <a:xfrm>
            <a:off x="157125" y="2118650"/>
            <a:ext cx="3933651" cy="2865349"/>
          </a:xfrm>
          <a:prstGeom prst="rect">
            <a:avLst/>
          </a:prstGeom>
          <a:noFill/>
          <a:ln>
            <a:noFill/>
          </a:ln>
        </p:spPr>
      </p:pic>
      <p:pic>
        <p:nvPicPr>
          <p:cNvPr id="141" name="Google Shape;141;p25" title="Screen Shot 2025-12-03 at 3.05.34 PM.png"/>
          <p:cNvPicPr preferRelativeResize="0"/>
          <p:nvPr/>
        </p:nvPicPr>
        <p:blipFill>
          <a:blip r:embed="rId4">
            <a:alphaModFix/>
          </a:blip>
          <a:stretch>
            <a:fillRect/>
          </a:stretch>
        </p:blipFill>
        <p:spPr>
          <a:xfrm>
            <a:off x="4048926" y="2094100"/>
            <a:ext cx="5095074" cy="2914450"/>
          </a:xfrm>
          <a:prstGeom prst="rect">
            <a:avLst/>
          </a:prstGeom>
          <a:noFill/>
          <a:ln>
            <a:noFill/>
          </a:ln>
        </p:spPr>
      </p:pic>
      <p:sp>
        <p:nvSpPr>
          <p:cNvPr id="142" name="Google Shape;142;p25"/>
          <p:cNvSpPr txBox="1"/>
          <p:nvPr/>
        </p:nvSpPr>
        <p:spPr>
          <a:xfrm>
            <a:off x="206200" y="1345275"/>
            <a:ext cx="88179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300" u="sng">
                <a:solidFill>
                  <a:schemeClr val="dk1"/>
                </a:solidFill>
              </a:rPr>
              <a:t>Based on the enrollment of Spring 2025 and Fall 2025, Fall had significantly more </a:t>
            </a:r>
            <a:r>
              <a:rPr b="1" lang="en-GB" sz="1300" u="sng">
                <a:solidFill>
                  <a:schemeClr val="dk1"/>
                </a:solidFill>
              </a:rPr>
              <a:t>people</a:t>
            </a:r>
            <a:r>
              <a:rPr b="1" lang="en-GB" sz="1300" u="sng">
                <a:solidFill>
                  <a:schemeClr val="dk1"/>
                </a:solidFill>
              </a:rPr>
              <a:t> enrolled than Spring.  </a:t>
            </a:r>
            <a:endParaRPr b="1" sz="1300" u="sng">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Limitations</a:t>
            </a:r>
            <a:endParaRPr/>
          </a:p>
        </p:txBody>
      </p:sp>
      <p:sp>
        <p:nvSpPr>
          <p:cNvPr id="148" name="Google Shape;148;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b="1" lang="en-GB" sz="1400">
                <a:solidFill>
                  <a:schemeClr val="dk1"/>
                </a:solidFill>
              </a:rPr>
              <a:t>The Survey was done in the second half of the semester</a:t>
            </a:r>
            <a:r>
              <a:rPr lang="en-GB" sz="1400">
                <a:solidFill>
                  <a:schemeClr val="dk1"/>
                </a:solidFill>
              </a:rPr>
              <a:t>: </a:t>
            </a:r>
            <a:r>
              <a:rPr lang="en-GB" sz="1400">
                <a:solidFill>
                  <a:schemeClr val="dk1"/>
                </a:solidFill>
              </a:rPr>
              <a:t>This means that we missed any data that could have been collected in the beginning of the semester. </a:t>
            </a:r>
            <a:endParaRPr sz="1400">
              <a:solidFill>
                <a:schemeClr val="dk1"/>
              </a:solidFill>
            </a:endParaRPr>
          </a:p>
          <a:p>
            <a:pPr indent="-317500" lvl="0" marL="457200" rtl="0" algn="l">
              <a:spcBef>
                <a:spcPts val="0"/>
              </a:spcBef>
              <a:spcAft>
                <a:spcPts val="0"/>
              </a:spcAft>
              <a:buClr>
                <a:schemeClr val="dk1"/>
              </a:buClr>
              <a:buSzPts val="1400"/>
              <a:buChar char="-"/>
            </a:pPr>
            <a:r>
              <a:rPr b="1" lang="en-GB" sz="1400">
                <a:solidFill>
                  <a:schemeClr val="dk1"/>
                </a:solidFill>
              </a:rPr>
              <a:t>High Volume on people</a:t>
            </a:r>
            <a:r>
              <a:rPr lang="en-GB" sz="1400">
                <a:solidFill>
                  <a:schemeClr val="dk1"/>
                </a:solidFill>
              </a:rPr>
              <a:t>: On Busier days with people constantly exiting and entering the building, losing count would be common and the results might be off slightly.</a:t>
            </a:r>
            <a:endParaRPr sz="1400">
              <a:solidFill>
                <a:schemeClr val="dk1"/>
              </a:solidFill>
            </a:endParaRPr>
          </a:p>
          <a:p>
            <a:pPr indent="-317500" lvl="0" marL="457200" rtl="0" algn="l">
              <a:spcBef>
                <a:spcPts val="0"/>
              </a:spcBef>
              <a:spcAft>
                <a:spcPts val="0"/>
              </a:spcAft>
              <a:buClr>
                <a:schemeClr val="dk1"/>
              </a:buClr>
              <a:buSzPts val="1400"/>
              <a:buChar char="-"/>
            </a:pPr>
            <a:r>
              <a:rPr b="1" lang="en-GB" sz="1400">
                <a:solidFill>
                  <a:schemeClr val="dk1"/>
                </a:solidFill>
              </a:rPr>
              <a:t>Barriers</a:t>
            </a:r>
            <a:r>
              <a:rPr lang="en-GB" sz="1400">
                <a:solidFill>
                  <a:schemeClr val="dk1"/>
                </a:solidFill>
              </a:rPr>
              <a:t>: Some customer had a language barrier that don’t allow us to convey the survey.</a:t>
            </a:r>
            <a:endParaRPr sz="1400">
              <a:solidFill>
                <a:schemeClr val="dk1"/>
              </a:solidFill>
            </a:endParaRPr>
          </a:p>
          <a:p>
            <a:pPr indent="-317500" lvl="0" marL="457200" rtl="0" algn="l">
              <a:spcBef>
                <a:spcPts val="0"/>
              </a:spcBef>
              <a:spcAft>
                <a:spcPts val="0"/>
              </a:spcAft>
              <a:buClr>
                <a:schemeClr val="dk1"/>
              </a:buClr>
              <a:buSzPts val="1400"/>
              <a:buChar char="-"/>
            </a:pPr>
            <a:r>
              <a:rPr b="1" lang="en-GB" sz="1400">
                <a:solidFill>
                  <a:schemeClr val="dk1"/>
                </a:solidFill>
              </a:rPr>
              <a:t>Groups</a:t>
            </a:r>
            <a:r>
              <a:rPr lang="en-GB" sz="1400">
                <a:solidFill>
                  <a:schemeClr val="dk1"/>
                </a:solidFill>
              </a:rPr>
              <a:t>: Some customers would come in groups and one person bought an item for everyone in the group, so multiple leave without an item but couldn’t fill out the survey.</a:t>
            </a:r>
            <a:endParaRPr sz="1400">
              <a:solidFill>
                <a:schemeClr val="dk1"/>
              </a:solidFill>
            </a:endParaRPr>
          </a:p>
          <a:p>
            <a:pPr indent="-317500" lvl="0" marL="457200" rtl="0" algn="l">
              <a:spcBef>
                <a:spcPts val="0"/>
              </a:spcBef>
              <a:spcAft>
                <a:spcPts val="0"/>
              </a:spcAft>
              <a:buClr>
                <a:schemeClr val="dk1"/>
              </a:buClr>
              <a:buSzPts val="1400"/>
              <a:buChar char="-"/>
            </a:pPr>
            <a:r>
              <a:rPr b="1" lang="en-GB" sz="1400">
                <a:solidFill>
                  <a:schemeClr val="dk1"/>
                </a:solidFill>
              </a:rPr>
              <a:t>Misinterpretation</a:t>
            </a:r>
            <a:r>
              <a:rPr lang="en-GB" sz="1400">
                <a:solidFill>
                  <a:schemeClr val="dk1"/>
                </a:solidFill>
              </a:rPr>
              <a:t>: Some customers got confused filling out the survey because the question was worded wrong. It asked if you bought anything but the products in VCentials are free.</a:t>
            </a:r>
            <a:endParaRPr sz="1400">
              <a:solidFill>
                <a:schemeClr val="dk1"/>
              </a:solidFill>
            </a:endParaRPr>
          </a:p>
          <a:p>
            <a:pPr indent="-317500" lvl="0" marL="457200" rtl="0" algn="l">
              <a:spcBef>
                <a:spcPts val="0"/>
              </a:spcBef>
              <a:spcAft>
                <a:spcPts val="0"/>
              </a:spcAft>
              <a:buClr>
                <a:schemeClr val="dk1"/>
              </a:buClr>
              <a:buSzPts val="1400"/>
              <a:buChar char="-"/>
            </a:pPr>
            <a:r>
              <a:rPr b="1" lang="en-GB" sz="1400">
                <a:solidFill>
                  <a:schemeClr val="dk1"/>
                </a:solidFill>
              </a:rPr>
              <a:t>Supply Chain Issues</a:t>
            </a:r>
            <a:r>
              <a:rPr lang="en-GB" sz="1400">
                <a:solidFill>
                  <a:schemeClr val="dk1"/>
                </a:solidFill>
              </a:rPr>
              <a:t>: On some days the inventory is low and more people are more likely to not pick something up on certain days.</a:t>
            </a:r>
            <a:endParaRPr sz="1400">
              <a:solidFill>
                <a:schemeClr val="dk1"/>
              </a:solidFill>
            </a:endParaRPr>
          </a:p>
          <a:p>
            <a:pPr indent="-317500" lvl="0" marL="457200" rtl="0" algn="l">
              <a:spcBef>
                <a:spcPts val="0"/>
              </a:spcBef>
              <a:spcAft>
                <a:spcPts val="0"/>
              </a:spcAft>
              <a:buClr>
                <a:schemeClr val="dk1"/>
              </a:buClr>
              <a:buSzPts val="1400"/>
              <a:buChar char="-"/>
            </a:pPr>
            <a:r>
              <a:rPr b="1" lang="en-GB" sz="1400">
                <a:solidFill>
                  <a:schemeClr val="dk1"/>
                </a:solidFill>
              </a:rPr>
              <a:t>Unaware</a:t>
            </a:r>
            <a:r>
              <a:rPr lang="en-GB" sz="1400">
                <a:solidFill>
                  <a:schemeClr val="dk1"/>
                </a:solidFill>
              </a:rPr>
              <a:t>: Because this is the Fall Semester, a lot of people will be entering their first semester here. This could mean that the new students are unaware on how VCentials. </a:t>
            </a:r>
            <a:endParaRPr sz="14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2" name="Shape 152"/>
        <p:cNvGrpSpPr/>
        <p:nvPr/>
      </p:nvGrpSpPr>
      <p:grpSpPr>
        <a:xfrm>
          <a:off x="0" y="0"/>
          <a:ext cx="0" cy="0"/>
          <a:chOff x="0" y="0"/>
          <a:chExt cx="0" cy="0"/>
        </a:xfrm>
      </p:grpSpPr>
      <p:sp>
        <p:nvSpPr>
          <p:cNvPr id="153" name="Google Shape;153;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Discussion</a:t>
            </a:r>
            <a:endParaRPr/>
          </a:p>
        </p:txBody>
      </p:sp>
      <p:sp>
        <p:nvSpPr>
          <p:cNvPr id="154" name="Google Shape;154;p27"/>
          <p:cNvSpPr txBox="1"/>
          <p:nvPr>
            <p:ph idx="1" type="body"/>
          </p:nvPr>
        </p:nvSpPr>
        <p:spPr>
          <a:xfrm>
            <a:off x="311700" y="1017725"/>
            <a:ext cx="8520600" cy="3803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GB" sz="2400"/>
              <a:t>After analyzing the data it is clear to see that t</a:t>
            </a:r>
            <a:r>
              <a:rPr lang="en-GB" sz="2400"/>
              <a:t>he percent of people who left VCentials without collecting an item increased from the spring semester to the fall semester. However between the spring and fall semesters the amount of people that left without an item </a:t>
            </a:r>
            <a:r>
              <a:rPr b="1" lang="en-GB" sz="2400"/>
              <a:t>increased by only 1.08% overall</a:t>
            </a:r>
            <a:r>
              <a:rPr lang="en-GB" sz="2400"/>
              <a:t>.</a:t>
            </a:r>
            <a:r>
              <a:rPr lang="en-GB" sz="2400">
                <a:solidFill>
                  <a:srgbClr val="FF0000"/>
                </a:solidFill>
              </a:rPr>
              <a:t> </a:t>
            </a:r>
            <a:r>
              <a:rPr lang="en-GB" sz="2400"/>
              <a:t>These patterns suggest that something during the Fall semester contributed to the higher rate of people leaving without items and the changes VCentials has made has impacted whether or not people leave with an item. </a:t>
            </a:r>
            <a:endParaRPr sz="2400">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ph type="title"/>
          </p:nvPr>
        </p:nvSpPr>
        <p:spPr>
          <a:xfrm>
            <a:off x="61825" y="143125"/>
            <a:ext cx="5984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Discussion</a:t>
            </a:r>
            <a:endParaRPr/>
          </a:p>
        </p:txBody>
      </p:sp>
      <p:sp>
        <p:nvSpPr>
          <p:cNvPr id="160" name="Google Shape;160;p28"/>
          <p:cNvSpPr txBox="1"/>
          <p:nvPr>
            <p:ph idx="1" type="body"/>
          </p:nvPr>
        </p:nvSpPr>
        <p:spPr>
          <a:xfrm>
            <a:off x="5941950" y="158700"/>
            <a:ext cx="3128700" cy="4826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dk1"/>
              </a:buClr>
              <a:buSzPts val="1100"/>
              <a:buFont typeface="Arial"/>
              <a:buNone/>
            </a:pPr>
            <a:r>
              <a:rPr lang="en-GB" sz="1400"/>
              <a:t>A variable that may influence this increase is that, according to data from Valencia’s Spring 2025 Enrollment report and Fall 2025 Enrollment Report, there were </a:t>
            </a:r>
            <a:r>
              <a:rPr b="1" lang="en-GB" sz="1400"/>
              <a:t>6432 more </a:t>
            </a:r>
            <a:r>
              <a:rPr lang="en-GB" sz="1400"/>
              <a:t>First-Time-In-College students in the 2025 Fall semester than in the 2025 Spring semester. These students likely do not know anything about VCentials and because of that might not take anything. </a:t>
            </a:r>
            <a:r>
              <a:rPr b="1" lang="en-GB" sz="1400"/>
              <a:t>Comparing data collected from VCentials in Spring 2025 to Spring 2026</a:t>
            </a:r>
            <a:r>
              <a:rPr lang="en-GB" sz="1400"/>
              <a:t> may give a better understanding as to how these changes have affected whether or not people leave without an item, since the amount of FTIC students tend to be similar based on the season of the semester. </a:t>
            </a:r>
            <a:endParaRPr sz="1400"/>
          </a:p>
        </p:txBody>
      </p:sp>
      <p:pic>
        <p:nvPicPr>
          <p:cNvPr id="161" name="Google Shape;161;p28" title="Screenshot 2025-12-04 at 1.58.11 PM.png"/>
          <p:cNvPicPr preferRelativeResize="0"/>
          <p:nvPr/>
        </p:nvPicPr>
        <p:blipFill>
          <a:blip r:embed="rId3">
            <a:alphaModFix/>
          </a:blip>
          <a:stretch>
            <a:fillRect/>
          </a:stretch>
        </p:blipFill>
        <p:spPr>
          <a:xfrm>
            <a:off x="0" y="3071975"/>
            <a:ext cx="5941949" cy="2071525"/>
          </a:xfrm>
          <a:prstGeom prst="rect">
            <a:avLst/>
          </a:prstGeom>
          <a:noFill/>
          <a:ln>
            <a:noFill/>
          </a:ln>
        </p:spPr>
      </p:pic>
      <p:pic>
        <p:nvPicPr>
          <p:cNvPr id="162" name="Google Shape;162;p28" title="Screenshot 2025-12-04 at 1.57.49 PM.png"/>
          <p:cNvPicPr preferRelativeResize="0"/>
          <p:nvPr/>
        </p:nvPicPr>
        <p:blipFill>
          <a:blip r:embed="rId4">
            <a:alphaModFix/>
          </a:blip>
          <a:stretch>
            <a:fillRect/>
          </a:stretch>
        </p:blipFill>
        <p:spPr>
          <a:xfrm>
            <a:off x="0" y="924100"/>
            <a:ext cx="5788001" cy="21478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9"/>
          <p:cNvSpPr txBox="1"/>
          <p:nvPr>
            <p:ph type="title"/>
          </p:nvPr>
        </p:nvSpPr>
        <p:spPr>
          <a:xfrm>
            <a:off x="311700" y="445025"/>
            <a:ext cx="6459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FF0000"/>
                </a:solidFill>
              </a:rPr>
              <a:t>Updates Implemented Since Spring 2025</a:t>
            </a:r>
            <a:endParaRPr>
              <a:solidFill>
                <a:srgbClr val="FF0000"/>
              </a:solidFill>
            </a:endParaRPr>
          </a:p>
        </p:txBody>
      </p:sp>
      <p:sp>
        <p:nvSpPr>
          <p:cNvPr id="168" name="Google Shape;168;p29"/>
          <p:cNvSpPr txBox="1"/>
          <p:nvPr>
            <p:ph idx="1" type="body"/>
          </p:nvPr>
        </p:nvSpPr>
        <p:spPr>
          <a:xfrm>
            <a:off x="311700" y="1123300"/>
            <a:ext cx="8520600" cy="3416400"/>
          </a:xfrm>
          <a:prstGeom prst="rect">
            <a:avLst/>
          </a:prstGeom>
        </p:spPr>
        <p:txBody>
          <a:bodyPr anchorCtr="0" anchor="t" bIns="91425" lIns="91425" spcFirstLastPara="1" rIns="91425" wrap="square" tIns="91425">
            <a:normAutofit fontScale="55000" lnSpcReduction="10000"/>
          </a:bodyPr>
          <a:lstStyle/>
          <a:p>
            <a:pPr indent="0" lvl="0" marL="0" rtl="0" algn="l">
              <a:spcBef>
                <a:spcPts val="0"/>
              </a:spcBef>
              <a:spcAft>
                <a:spcPts val="0"/>
              </a:spcAft>
              <a:buNone/>
            </a:pPr>
            <a:r>
              <a:rPr lang="en-GB" sz="2782">
                <a:solidFill>
                  <a:srgbClr val="444444"/>
                </a:solidFill>
                <a:highlight>
                  <a:srgbClr val="FFFFFF"/>
                </a:highlight>
              </a:rPr>
              <a:t>Since the Spring 2025 report, VCentials has implemented several improvements to increase accessibility, variety, and overall student satisfaction. These changes directly address the concerns raised last semester and reflect our commitment to providing reliable, high-quality resources for the Valencia community.</a:t>
            </a:r>
            <a:endParaRPr sz="1050">
              <a:solidFill>
                <a:srgbClr val="444444"/>
              </a:solidFill>
              <a:highlight>
                <a:srgbClr val="FFFFFF"/>
              </a:highlight>
            </a:endParaRPr>
          </a:p>
          <a:p>
            <a:pPr indent="-315913" lvl="0" marL="457200" rtl="0" algn="l">
              <a:spcBef>
                <a:spcPts val="1200"/>
              </a:spcBef>
              <a:spcAft>
                <a:spcPts val="0"/>
              </a:spcAft>
              <a:buClr>
                <a:srgbClr val="444444"/>
              </a:buClr>
              <a:buSzPct val="100000"/>
              <a:buChar char="●"/>
            </a:pPr>
            <a:r>
              <a:rPr lang="en-GB" sz="2500">
                <a:solidFill>
                  <a:srgbClr val="444444"/>
                </a:solidFill>
                <a:highlight>
                  <a:srgbClr val="FFFFFF"/>
                </a:highlight>
              </a:rPr>
              <a:t>Shelves are now fully stocked throughout the week. Supply shortages from last semester have been resolved.</a:t>
            </a:r>
            <a:endParaRPr sz="2500">
              <a:solidFill>
                <a:srgbClr val="444444"/>
              </a:solidFill>
              <a:highlight>
                <a:srgbClr val="FFFFFF"/>
              </a:highlight>
            </a:endParaRPr>
          </a:p>
          <a:p>
            <a:pPr indent="-315913" lvl="0" marL="457200" rtl="0" algn="l">
              <a:spcBef>
                <a:spcPts val="0"/>
              </a:spcBef>
              <a:spcAft>
                <a:spcPts val="0"/>
              </a:spcAft>
              <a:buClr>
                <a:srgbClr val="444444"/>
              </a:buClr>
              <a:buSzPct val="100000"/>
              <a:buChar char="●"/>
            </a:pPr>
            <a:r>
              <a:rPr lang="en-GB" sz="2500">
                <a:solidFill>
                  <a:srgbClr val="444444"/>
                </a:solidFill>
                <a:highlight>
                  <a:srgbClr val="FFFFFF"/>
                </a:highlight>
              </a:rPr>
              <a:t>Expanded variety of items, including multiple cereal choices, five ready-to-eat meals, and additional lunch/dinner options.</a:t>
            </a:r>
            <a:endParaRPr sz="2500">
              <a:solidFill>
                <a:srgbClr val="444444"/>
              </a:solidFill>
              <a:highlight>
                <a:srgbClr val="FFFFFF"/>
              </a:highlight>
            </a:endParaRPr>
          </a:p>
          <a:p>
            <a:pPr indent="-315913" lvl="0" marL="457200" rtl="0" algn="l">
              <a:spcBef>
                <a:spcPts val="0"/>
              </a:spcBef>
              <a:spcAft>
                <a:spcPts val="0"/>
              </a:spcAft>
              <a:buClr>
                <a:srgbClr val="444444"/>
              </a:buClr>
              <a:buSzPct val="100000"/>
              <a:buChar char="●"/>
            </a:pPr>
            <a:r>
              <a:rPr lang="en-GB" sz="2500">
                <a:solidFill>
                  <a:srgbClr val="444444"/>
                </a:solidFill>
                <a:highlight>
                  <a:srgbClr val="FFFFFF"/>
                </a:highlight>
              </a:rPr>
              <a:t>Fresh fruit is available primarily Monday–Wednesday, aligning with peak traffic days.</a:t>
            </a:r>
            <a:br>
              <a:rPr lang="en-GB" sz="2500">
                <a:solidFill>
                  <a:srgbClr val="444444"/>
                </a:solidFill>
                <a:highlight>
                  <a:srgbClr val="FFFFFF"/>
                </a:highlight>
              </a:rPr>
            </a:br>
            <a:r>
              <a:rPr lang="en-GB" sz="2500">
                <a:solidFill>
                  <a:srgbClr val="444444"/>
                </a:solidFill>
                <a:highlight>
                  <a:srgbClr val="FFFFFF"/>
                </a:highlight>
              </a:rPr>
              <a:t>New guidelines for frozen protein items and increased student access to weekly servings.</a:t>
            </a:r>
            <a:br>
              <a:rPr lang="en-GB" sz="2500">
                <a:solidFill>
                  <a:srgbClr val="444444"/>
                </a:solidFill>
                <a:highlight>
                  <a:srgbClr val="FFFFFF"/>
                </a:highlight>
              </a:rPr>
            </a:br>
            <a:r>
              <a:rPr lang="en-GB" sz="2500">
                <a:solidFill>
                  <a:srgbClr val="444444"/>
                </a:solidFill>
                <a:highlight>
                  <a:srgbClr val="FFFFFF"/>
                </a:highlight>
              </a:rPr>
              <a:t>Continued availability of Starbucks and bakery items, which has increased student engagement.</a:t>
            </a:r>
            <a:endParaRPr sz="2500">
              <a:solidFill>
                <a:srgbClr val="444444"/>
              </a:solidFill>
              <a:highlight>
                <a:srgbClr val="FFFFFF"/>
              </a:highlight>
            </a:endParaRPr>
          </a:p>
          <a:p>
            <a:pPr indent="-315913" lvl="0" marL="457200" rtl="0" algn="l">
              <a:spcBef>
                <a:spcPts val="0"/>
              </a:spcBef>
              <a:spcAft>
                <a:spcPts val="0"/>
              </a:spcAft>
              <a:buClr>
                <a:srgbClr val="444444"/>
              </a:buClr>
              <a:buSzPct val="100000"/>
              <a:buChar char="●"/>
            </a:pPr>
            <a:r>
              <a:rPr lang="en-GB" sz="2500">
                <a:solidFill>
                  <a:srgbClr val="444444"/>
                </a:solidFill>
                <a:highlight>
                  <a:srgbClr val="FFFFFF"/>
                </a:highlight>
              </a:rPr>
              <a:t>Added more brand-name snacks (granola, peanuts, sunflower seeds, and others) to broaden selection.</a:t>
            </a:r>
            <a:endParaRPr sz="25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2" name="Shape 172"/>
        <p:cNvGrpSpPr/>
        <p:nvPr/>
      </p:nvGrpSpPr>
      <p:grpSpPr>
        <a:xfrm>
          <a:off x="0" y="0"/>
          <a:ext cx="0" cy="0"/>
          <a:chOff x="0" y="0"/>
          <a:chExt cx="0" cy="0"/>
        </a:xfrm>
      </p:grpSpPr>
      <p:pic>
        <p:nvPicPr>
          <p:cNvPr descr="image.png" id="173" name="Google Shape;173;p30"/>
          <p:cNvPicPr preferRelativeResize="0"/>
          <p:nvPr/>
        </p:nvPicPr>
        <p:blipFill rotWithShape="1">
          <a:blip r:embed="rId4">
            <a:alphaModFix/>
          </a:blip>
          <a:srcRect b="0" l="0" r="0" t="0"/>
          <a:stretch/>
        </p:blipFill>
        <p:spPr>
          <a:xfrm>
            <a:off x="4714875" y="785813"/>
            <a:ext cx="4000500" cy="3571875"/>
          </a:xfrm>
          <a:prstGeom prst="rect">
            <a:avLst/>
          </a:prstGeom>
          <a:noFill/>
          <a:ln>
            <a:noFill/>
          </a:ln>
        </p:spPr>
      </p:pic>
      <p:sp>
        <p:nvSpPr>
          <p:cNvPr id="174" name="Google Shape;174;p30"/>
          <p:cNvSpPr txBox="1"/>
          <p:nvPr/>
        </p:nvSpPr>
        <p:spPr>
          <a:xfrm>
            <a:off x="428625" y="938063"/>
            <a:ext cx="4050600" cy="1662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3600" u="none" cap="none" strike="noStrike">
                <a:solidFill>
                  <a:srgbClr val="BF311A"/>
                </a:solidFill>
                <a:latin typeface="Poppins"/>
                <a:ea typeface="Poppins"/>
                <a:cs typeface="Poppins"/>
                <a:sym typeface="Poppins"/>
              </a:rPr>
              <a:t>VCentials Feedback Analysis</a:t>
            </a:r>
            <a:endParaRPr sz="1100"/>
          </a:p>
        </p:txBody>
      </p:sp>
      <p:sp>
        <p:nvSpPr>
          <p:cNvPr id="175" name="Google Shape;175;p30"/>
          <p:cNvSpPr txBox="1"/>
          <p:nvPr/>
        </p:nvSpPr>
        <p:spPr>
          <a:xfrm>
            <a:off x="428625" y="3145482"/>
            <a:ext cx="3857700" cy="5601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GB" sz="1400" u="none" cap="none" strike="noStrike">
                <a:solidFill>
                  <a:srgbClr val="58595B"/>
                </a:solidFill>
                <a:latin typeface="Lato"/>
                <a:ea typeface="Lato"/>
                <a:cs typeface="Lato"/>
                <a:sym typeface="Lato"/>
              </a:rPr>
              <a:t>Survey Insights &amp; Trends</a:t>
            </a:r>
            <a:br>
              <a:rPr b="0" i="0" lang="en-GB" sz="1400" u="none" cap="none" strike="noStrike">
                <a:solidFill>
                  <a:schemeClr val="dk1"/>
                </a:solidFill>
                <a:latin typeface="Calibri"/>
                <a:ea typeface="Calibri"/>
                <a:cs typeface="Calibri"/>
                <a:sym typeface="Calibri"/>
              </a:rPr>
            </a:br>
            <a:r>
              <a:rPr b="0" i="0" lang="en-GB" sz="1400" u="none" cap="none" strike="noStrike">
                <a:solidFill>
                  <a:srgbClr val="58595B"/>
                </a:solidFill>
                <a:latin typeface="Lato"/>
                <a:ea typeface="Lato"/>
                <a:cs typeface="Lato"/>
                <a:sym typeface="Lato"/>
              </a:rPr>
              <a:t> </a:t>
            </a:r>
            <a:endParaRPr sz="1100"/>
          </a:p>
        </p:txBody>
      </p:sp>
      <p:sp>
        <p:nvSpPr>
          <p:cNvPr id="176" name="Google Shape;176;p30"/>
          <p:cNvSpPr txBox="1"/>
          <p:nvPr/>
        </p:nvSpPr>
        <p:spPr>
          <a:xfrm>
            <a:off x="428625" y="3908300"/>
            <a:ext cx="3857700" cy="16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sz="1100"/>
          </a:p>
        </p:txBody>
      </p:sp>
      <p:pic>
        <p:nvPicPr>
          <p:cNvPr descr="image.png" id="177" name="Google Shape;177;p30"/>
          <p:cNvPicPr preferRelativeResize="0"/>
          <p:nvPr/>
        </p:nvPicPr>
        <p:blipFill rotWithShape="1">
          <a:blip r:embed="rId5">
            <a:alphaModFix/>
          </a:blip>
          <a:srcRect b="0" l="0" r="0" t="0"/>
          <a:stretch/>
        </p:blipFill>
        <p:spPr>
          <a:xfrm>
            <a:off x="4714875" y="785813"/>
            <a:ext cx="4000500" cy="35718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1" name="Shape 181"/>
        <p:cNvGrpSpPr/>
        <p:nvPr/>
      </p:nvGrpSpPr>
      <p:grpSpPr>
        <a:xfrm>
          <a:off x="0" y="0"/>
          <a:ext cx="0" cy="0"/>
          <a:chOff x="0" y="0"/>
          <a:chExt cx="0" cy="0"/>
        </a:xfrm>
      </p:grpSpPr>
      <p:sp>
        <p:nvSpPr>
          <p:cNvPr id="182" name="Google Shape;182;p31"/>
          <p:cNvSpPr txBox="1"/>
          <p:nvPr/>
        </p:nvSpPr>
        <p:spPr>
          <a:xfrm>
            <a:off x="1521800" y="278825"/>
            <a:ext cx="62367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900">
                <a:solidFill>
                  <a:srgbClr val="BF311A"/>
                </a:solidFill>
                <a:latin typeface="Poppins"/>
                <a:ea typeface="Poppins"/>
                <a:cs typeface="Poppins"/>
                <a:sym typeface="Poppins"/>
              </a:rPr>
              <a:t>Most Common </a:t>
            </a:r>
            <a:r>
              <a:rPr b="1" lang="en-GB" sz="2900">
                <a:solidFill>
                  <a:srgbClr val="BF311A"/>
                </a:solidFill>
                <a:latin typeface="Poppins"/>
                <a:ea typeface="Poppins"/>
                <a:cs typeface="Poppins"/>
                <a:sym typeface="Poppins"/>
              </a:rPr>
              <a:t>Reasons</a:t>
            </a:r>
            <a:r>
              <a:rPr b="1" lang="en-GB" sz="2900">
                <a:solidFill>
                  <a:srgbClr val="BF311A"/>
                </a:solidFill>
                <a:latin typeface="Poppins"/>
                <a:ea typeface="Poppins"/>
                <a:cs typeface="Poppins"/>
                <a:sym typeface="Poppins"/>
              </a:rPr>
              <a:t> &amp; Items</a:t>
            </a:r>
            <a:endParaRPr/>
          </a:p>
        </p:txBody>
      </p:sp>
      <p:cxnSp>
        <p:nvCxnSpPr>
          <p:cNvPr id="183" name="Google Shape;183;p31"/>
          <p:cNvCxnSpPr/>
          <p:nvPr/>
        </p:nvCxnSpPr>
        <p:spPr>
          <a:xfrm flipH="1" rot="10800000">
            <a:off x="454100" y="1060975"/>
            <a:ext cx="8372100" cy="14700"/>
          </a:xfrm>
          <a:prstGeom prst="straightConnector1">
            <a:avLst/>
          </a:prstGeom>
          <a:noFill/>
          <a:ln cap="flat" cmpd="sng" w="9525">
            <a:solidFill>
              <a:schemeClr val="dk2"/>
            </a:solidFill>
            <a:prstDash val="solid"/>
            <a:round/>
            <a:headEnd len="med" w="med" type="none"/>
            <a:tailEnd len="med" w="med" type="none"/>
          </a:ln>
        </p:spPr>
      </p:cxnSp>
      <p:sp>
        <p:nvSpPr>
          <p:cNvPr id="184" name="Google Shape;184;p31"/>
          <p:cNvSpPr txBox="1"/>
          <p:nvPr/>
        </p:nvSpPr>
        <p:spPr>
          <a:xfrm>
            <a:off x="1121800" y="1335400"/>
            <a:ext cx="6941100" cy="3306300"/>
          </a:xfrm>
          <a:prstGeom prst="rect">
            <a:avLst/>
          </a:prstGeom>
          <a:noFill/>
          <a:ln>
            <a:noFill/>
          </a:ln>
        </p:spPr>
        <p:txBody>
          <a:bodyPr anchorCtr="0" anchor="t" bIns="91425" lIns="91425" spcFirstLastPara="1" rIns="91425" wrap="square" tIns="91425">
            <a:spAutoFit/>
          </a:bodyPr>
          <a:lstStyle/>
          <a:p>
            <a:pPr indent="-304800" lvl="0" marL="457200" rtl="0" algn="l">
              <a:lnSpc>
                <a:spcPct val="160000"/>
              </a:lnSpc>
              <a:spcBef>
                <a:spcPts val="0"/>
              </a:spcBef>
              <a:spcAft>
                <a:spcPts val="0"/>
              </a:spcAft>
              <a:buClr>
                <a:srgbClr val="475569"/>
              </a:buClr>
              <a:buSzPts val="1200"/>
              <a:buFont typeface="Lato"/>
              <a:buChar char="●"/>
            </a:pPr>
            <a:r>
              <a:rPr b="1" lang="en-GB" sz="1200">
                <a:solidFill>
                  <a:srgbClr val="475569"/>
                </a:solidFill>
                <a:latin typeface="Lato"/>
                <a:ea typeface="Lato"/>
                <a:cs typeface="Lato"/>
                <a:sym typeface="Lato"/>
              </a:rPr>
              <a:t>Bread Items: </a:t>
            </a:r>
            <a:r>
              <a:rPr lang="en-GB" sz="1200">
                <a:solidFill>
                  <a:srgbClr val="475569"/>
                </a:solidFill>
                <a:latin typeface="Lato"/>
                <a:ea typeface="Lato"/>
                <a:cs typeface="Lato"/>
                <a:sym typeface="Lato"/>
              </a:rPr>
              <a:t>By far the most frequently cited missing item was bread.  Users reported this being an item that was infrequently restocked.  </a:t>
            </a:r>
            <a:endParaRPr sz="1200">
              <a:solidFill>
                <a:srgbClr val="475569"/>
              </a:solidFill>
              <a:latin typeface="Lato"/>
              <a:ea typeface="Lato"/>
              <a:cs typeface="Lato"/>
              <a:sym typeface="Lato"/>
            </a:endParaRPr>
          </a:p>
          <a:p>
            <a:pPr indent="-304800" lvl="0" marL="457200" rtl="0" algn="l">
              <a:lnSpc>
                <a:spcPct val="160000"/>
              </a:lnSpc>
              <a:spcBef>
                <a:spcPts val="0"/>
              </a:spcBef>
              <a:spcAft>
                <a:spcPts val="0"/>
              </a:spcAft>
              <a:buClr>
                <a:srgbClr val="475569"/>
              </a:buClr>
              <a:buSzPts val="1200"/>
              <a:buFont typeface="Lato"/>
              <a:buChar char="●"/>
            </a:pPr>
            <a:r>
              <a:rPr b="1" lang="en-GB" sz="1200">
                <a:solidFill>
                  <a:srgbClr val="475569"/>
                </a:solidFill>
                <a:latin typeface="Lato"/>
                <a:ea typeface="Lato"/>
                <a:cs typeface="Lato"/>
                <a:sym typeface="Lato"/>
              </a:rPr>
              <a:t>Protein &amp; Meat: </a:t>
            </a:r>
            <a:r>
              <a:rPr lang="en-GB" sz="1200">
                <a:solidFill>
                  <a:srgbClr val="475569"/>
                </a:solidFill>
                <a:latin typeface="Lato"/>
                <a:ea typeface="Lato"/>
                <a:cs typeface="Lato"/>
                <a:sym typeface="Lato"/>
              </a:rPr>
              <a:t>Respondee’s often commented on a lack of diversity in protein items. Some also they </a:t>
            </a:r>
            <a:r>
              <a:rPr lang="en-GB" sz="1200">
                <a:solidFill>
                  <a:srgbClr val="475569"/>
                </a:solidFill>
                <a:latin typeface="Lato"/>
                <a:ea typeface="Lato"/>
                <a:cs typeface="Lato"/>
                <a:sym typeface="Lato"/>
              </a:rPr>
              <a:t>perceived</a:t>
            </a:r>
            <a:r>
              <a:rPr lang="en-GB" sz="1200">
                <a:solidFill>
                  <a:srgbClr val="475569"/>
                </a:solidFill>
                <a:latin typeface="Lato"/>
                <a:ea typeface="Lato"/>
                <a:cs typeface="Lato"/>
                <a:sym typeface="Lato"/>
              </a:rPr>
              <a:t> the meat to be “old”. </a:t>
            </a:r>
            <a:endParaRPr sz="1200">
              <a:solidFill>
                <a:srgbClr val="475569"/>
              </a:solidFill>
              <a:latin typeface="Lato"/>
              <a:ea typeface="Lato"/>
              <a:cs typeface="Lato"/>
              <a:sym typeface="Lato"/>
            </a:endParaRPr>
          </a:p>
          <a:p>
            <a:pPr indent="-304800" lvl="0" marL="457200" rtl="0" algn="l">
              <a:lnSpc>
                <a:spcPct val="160000"/>
              </a:lnSpc>
              <a:spcBef>
                <a:spcPts val="0"/>
              </a:spcBef>
              <a:spcAft>
                <a:spcPts val="0"/>
              </a:spcAft>
              <a:buClr>
                <a:srgbClr val="475569"/>
              </a:buClr>
              <a:buSzPts val="1200"/>
              <a:buFont typeface="Lato"/>
              <a:buChar char="●"/>
            </a:pPr>
            <a:r>
              <a:rPr b="1" lang="en-GB" sz="1200">
                <a:solidFill>
                  <a:srgbClr val="475569"/>
                </a:solidFill>
                <a:latin typeface="Lato"/>
                <a:ea typeface="Lato"/>
                <a:cs typeface="Lato"/>
                <a:sym typeface="Lato"/>
              </a:rPr>
              <a:t>Dietary Restrictions: </a:t>
            </a:r>
            <a:r>
              <a:rPr lang="en-GB" sz="1200">
                <a:solidFill>
                  <a:srgbClr val="475569"/>
                </a:solidFill>
                <a:latin typeface="Lato"/>
                <a:ea typeface="Lato"/>
                <a:cs typeface="Lato"/>
                <a:sym typeface="Lato"/>
              </a:rPr>
              <a:t>Food intolerances and dietary needs were commonly stated. The lack of vegetarian options was mentioned a few times.</a:t>
            </a:r>
            <a:endParaRPr sz="1200">
              <a:solidFill>
                <a:srgbClr val="475569"/>
              </a:solidFill>
              <a:latin typeface="Lato"/>
              <a:ea typeface="Lato"/>
              <a:cs typeface="Lato"/>
              <a:sym typeface="Lato"/>
            </a:endParaRPr>
          </a:p>
          <a:p>
            <a:pPr indent="-311150" lvl="0" marL="457200" rtl="0" algn="l">
              <a:lnSpc>
                <a:spcPct val="160000"/>
              </a:lnSpc>
              <a:spcBef>
                <a:spcPts val="0"/>
              </a:spcBef>
              <a:spcAft>
                <a:spcPts val="0"/>
              </a:spcAft>
              <a:buClr>
                <a:srgbClr val="58595B"/>
              </a:buClr>
              <a:buSzPts val="1300"/>
              <a:buFont typeface="Lato"/>
              <a:buChar char="●"/>
            </a:pPr>
            <a:r>
              <a:rPr b="1" lang="en-GB" sz="1200">
                <a:solidFill>
                  <a:srgbClr val="58595B"/>
                </a:solidFill>
                <a:latin typeface="Lato"/>
                <a:ea typeface="Lato"/>
                <a:cs typeface="Lato"/>
                <a:sym typeface="Lato"/>
              </a:rPr>
              <a:t>Fresh Produce:</a:t>
            </a:r>
            <a:r>
              <a:rPr lang="en-GB" sz="1200">
                <a:solidFill>
                  <a:srgbClr val="58595B"/>
                </a:solidFill>
                <a:latin typeface="Lato"/>
                <a:ea typeface="Lato"/>
                <a:cs typeface="Lato"/>
                <a:sym typeface="Lato"/>
              </a:rPr>
              <a:t> Lack of fruit and fresh produce was also cited.</a:t>
            </a:r>
            <a:endParaRPr sz="1300">
              <a:solidFill>
                <a:srgbClr val="58595B"/>
              </a:solidFill>
              <a:latin typeface="Lato"/>
              <a:ea typeface="Lato"/>
              <a:cs typeface="Lato"/>
              <a:sym typeface="Lato"/>
            </a:endParaRPr>
          </a:p>
          <a:p>
            <a:pPr indent="-304800" lvl="0" marL="457200" rtl="0" algn="l">
              <a:lnSpc>
                <a:spcPct val="115000"/>
              </a:lnSpc>
              <a:spcBef>
                <a:spcPts val="0"/>
              </a:spcBef>
              <a:spcAft>
                <a:spcPts val="0"/>
              </a:spcAft>
              <a:buClr>
                <a:srgbClr val="58595B"/>
              </a:buClr>
              <a:buSzPts val="1200"/>
              <a:buChar char="●"/>
            </a:pPr>
            <a:r>
              <a:rPr b="1" lang="en-GB" sz="1200">
                <a:solidFill>
                  <a:srgbClr val="58595B"/>
                </a:solidFill>
                <a:latin typeface="Lato"/>
                <a:ea typeface="Lato"/>
                <a:cs typeface="Lato"/>
                <a:sym typeface="Lato"/>
              </a:rPr>
              <a:t>Access Barriers:</a:t>
            </a:r>
            <a:r>
              <a:rPr lang="en-GB" sz="1200">
                <a:solidFill>
                  <a:srgbClr val="58595B"/>
                </a:solidFill>
                <a:latin typeface="Lato"/>
                <a:ea typeface="Lato"/>
                <a:cs typeface="Lato"/>
                <a:sym typeface="Lato"/>
              </a:rPr>
              <a:t> Technical friction is a key reason for non-use. Several students cited broken IDs, login failures, or lack of time to complete forms.</a:t>
            </a:r>
            <a:endParaRPr sz="1200">
              <a:solidFill>
                <a:srgbClr val="58595B"/>
              </a:solidFill>
              <a:latin typeface="Lato"/>
              <a:ea typeface="Lato"/>
              <a:cs typeface="Lato"/>
              <a:sym typeface="Lato"/>
            </a:endParaRPr>
          </a:p>
          <a:p>
            <a:pPr indent="0" lvl="0" marL="0" rtl="0" algn="l">
              <a:lnSpc>
                <a:spcPct val="160000"/>
              </a:lnSpc>
              <a:spcBef>
                <a:spcPts val="1200"/>
              </a:spcBef>
              <a:spcAft>
                <a:spcPts val="0"/>
              </a:spcAft>
              <a:buNone/>
            </a:pPr>
            <a:r>
              <a:t/>
            </a:r>
            <a:endParaRPr sz="1200">
              <a:solidFill>
                <a:srgbClr val="475569"/>
              </a:solidFill>
              <a:latin typeface="Lato"/>
              <a:ea typeface="Lato"/>
              <a:cs typeface="Lato"/>
              <a:sym typeface="Lato"/>
            </a:endParaRPr>
          </a:p>
          <a:p>
            <a:pPr indent="0" lvl="0" marL="457200" rtl="0" algn="l">
              <a:lnSpc>
                <a:spcPct val="160000"/>
              </a:lnSpc>
              <a:spcBef>
                <a:spcPts val="0"/>
              </a:spcBef>
              <a:spcAft>
                <a:spcPts val="0"/>
              </a:spcAft>
              <a:buNone/>
            </a:pPr>
            <a:r>
              <a:t/>
            </a:r>
            <a:endParaRPr sz="1000">
              <a:solidFill>
                <a:srgbClr val="475569"/>
              </a:solidFill>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2"/>
          <p:cNvSpPr txBox="1"/>
          <p:nvPr>
            <p:ph type="title"/>
          </p:nvPr>
        </p:nvSpPr>
        <p:spPr>
          <a:xfrm>
            <a:off x="412275"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Conclusion</a:t>
            </a:r>
            <a:r>
              <a:rPr lang="en-GB"/>
              <a:t> </a:t>
            </a:r>
            <a:endParaRPr/>
          </a:p>
          <a:p>
            <a:pPr indent="0" lvl="0" marL="0" rtl="0" algn="l">
              <a:spcBef>
                <a:spcPts val="0"/>
              </a:spcBef>
              <a:spcAft>
                <a:spcPts val="0"/>
              </a:spcAft>
              <a:buNone/>
            </a:pPr>
            <a:r>
              <a:t/>
            </a:r>
            <a:endParaRPr/>
          </a:p>
        </p:txBody>
      </p:sp>
      <p:sp>
        <p:nvSpPr>
          <p:cNvPr id="190" name="Google Shape;190;p32"/>
          <p:cNvSpPr txBox="1"/>
          <p:nvPr>
            <p:ph idx="1" type="body"/>
          </p:nvPr>
        </p:nvSpPr>
        <p:spPr>
          <a:xfrm>
            <a:off x="412284" y="965147"/>
            <a:ext cx="8520600" cy="3922800"/>
          </a:xfrm>
          <a:prstGeom prst="rect">
            <a:avLst/>
          </a:prstGeom>
        </p:spPr>
        <p:txBody>
          <a:bodyPr anchorCtr="0" anchor="t" bIns="91425" lIns="91425" spcFirstLastPara="1" rIns="91425" wrap="square" tIns="91425">
            <a:normAutofit fontScale="47500" lnSpcReduction="20000"/>
          </a:bodyPr>
          <a:lstStyle/>
          <a:p>
            <a:pPr indent="0" lvl="0" marL="0" rtl="0" algn="l">
              <a:spcBef>
                <a:spcPts val="1200"/>
              </a:spcBef>
              <a:spcAft>
                <a:spcPts val="0"/>
              </a:spcAft>
              <a:buNone/>
            </a:pPr>
            <a:r>
              <a:rPr lang="en-GB" sz="2364">
                <a:solidFill>
                  <a:schemeClr val="dk1"/>
                </a:solidFill>
              </a:rPr>
              <a:t>To condense all the data and findings into key takeaways, several new implementations were introduced after the Spring 2025 VCentials research project. However, when comparing the Spring 2025 and Fall 2025 data, it becomes clear that these updates did not produce the improvements that were expected. Even though VCentials expanded its variety of available items, the percentage of students leaving without receiving an item still increased. While the percentage of students leaving without items did increase the number of students enrolled on this campus also tripled.  </a:t>
            </a:r>
            <a:endParaRPr sz="2364">
              <a:solidFill>
                <a:schemeClr val="dk1"/>
              </a:solidFill>
            </a:endParaRPr>
          </a:p>
          <a:p>
            <a:pPr indent="0" lvl="0" marL="0" rtl="0" algn="l">
              <a:spcBef>
                <a:spcPts val="1200"/>
              </a:spcBef>
              <a:spcAft>
                <a:spcPts val="0"/>
              </a:spcAft>
              <a:buClr>
                <a:schemeClr val="dk1"/>
              </a:buClr>
              <a:buSzPct val="46529"/>
              <a:buFont typeface="Arial"/>
              <a:buNone/>
            </a:pPr>
            <a:r>
              <a:rPr lang="en-GB" sz="2364">
                <a:solidFill>
                  <a:schemeClr val="dk1"/>
                </a:solidFill>
              </a:rPr>
              <a:t>Based on the ratio analysis, the average Spring 2025 no-item exit rate was 4.33 percent, while the average Fall 2025 rate increased to 5.41 percent. This higher ratio indicates that the proportion of students leaving VCentials without collecting an item grew in the Fall semester. Because the ratio reflects how many students were served overall, this rise shows that the increased number of students visiting in the Fall directly contributed to more students exiting without an item compared to the Spring semester.</a:t>
            </a:r>
            <a:endParaRPr sz="2364">
              <a:solidFill>
                <a:schemeClr val="dk1"/>
              </a:solidFill>
            </a:endParaRPr>
          </a:p>
          <a:p>
            <a:pPr indent="0" lvl="0" marL="0" rtl="0" algn="l">
              <a:spcBef>
                <a:spcPts val="1200"/>
              </a:spcBef>
              <a:spcAft>
                <a:spcPts val="0"/>
              </a:spcAft>
              <a:buClr>
                <a:schemeClr val="dk1"/>
              </a:buClr>
              <a:buSzPct val="46529"/>
              <a:buFont typeface="Arial"/>
              <a:buNone/>
            </a:pPr>
            <a:r>
              <a:rPr lang="en-GB" sz="2364">
                <a:solidFill>
                  <a:schemeClr val="dk1"/>
                </a:solidFill>
              </a:rPr>
              <a:t>One contributing factor to this puzzling outcome is the increase in student enrollment during the Fall semester. With more students entering the store, items were likely being taken more quickly, causing popular selections to run out sooner. As a result, more students may have walked out because the item(s) they hoped to obtain were already unavailable.</a:t>
            </a:r>
            <a:endParaRPr sz="2364">
              <a:solidFill>
                <a:schemeClr val="dk1"/>
              </a:solidFill>
            </a:endParaRPr>
          </a:p>
          <a:p>
            <a:pPr indent="0" lvl="0" marL="0" rtl="0" algn="l">
              <a:spcBef>
                <a:spcPts val="1200"/>
              </a:spcBef>
              <a:spcAft>
                <a:spcPts val="0"/>
              </a:spcAft>
              <a:buClr>
                <a:schemeClr val="dk1"/>
              </a:buClr>
              <a:buSzPct val="46529"/>
              <a:buFont typeface="Arial"/>
              <a:buNone/>
            </a:pPr>
            <a:r>
              <a:rPr lang="en-GB" sz="2364">
                <a:solidFill>
                  <a:schemeClr val="dk1"/>
                </a:solidFill>
              </a:rPr>
              <a:t>Overall, these findings suggest that while improvements were made, VCentials still needs to expand inventory and restocking capacity to keep up with higher demand, ensuring that a growing student population can access the resources they need.</a:t>
            </a:r>
            <a:endParaRPr sz="2364">
              <a:solidFill>
                <a:schemeClr val="dk1"/>
              </a:solidFill>
            </a:endParaRPr>
          </a:p>
          <a:p>
            <a:pPr indent="0" lvl="0" marL="0" rtl="0" algn="l">
              <a:spcBef>
                <a:spcPts val="1200"/>
              </a:spcBef>
              <a:spcAft>
                <a:spcPts val="0"/>
              </a:spcAft>
              <a:buNone/>
            </a:pPr>
            <a:r>
              <a:t/>
            </a:r>
            <a:endParaRPr sz="1600"/>
          </a:p>
          <a:p>
            <a:pPr indent="0" lvl="0" marL="0" rtl="0" algn="l">
              <a:spcBef>
                <a:spcPts val="1200"/>
              </a:spcBef>
              <a:spcAft>
                <a:spcPts val="0"/>
              </a:spcAft>
              <a:buNone/>
            </a:pPr>
            <a:r>
              <a:rPr lang="en-GB"/>
              <a:t> </a:t>
            </a:r>
            <a:endParaRPr/>
          </a:p>
          <a:p>
            <a:pPr indent="0" lvl="0" marL="0" rtl="0" algn="l">
              <a:spcBef>
                <a:spcPts val="120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References</a:t>
            </a:r>
            <a:r>
              <a:rPr lang="en-GB"/>
              <a:t> </a:t>
            </a:r>
            <a:endParaRPr/>
          </a:p>
        </p:txBody>
      </p:sp>
      <p:sp>
        <p:nvSpPr>
          <p:cNvPr id="196" name="Google Shape;196;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a:solidFill>
                  <a:schemeClr val="dk1"/>
                </a:solidFill>
              </a:rPr>
              <a:t>Y. </a:t>
            </a:r>
            <a:r>
              <a:rPr lang="en-GB">
                <a:solidFill>
                  <a:schemeClr val="dk1"/>
                </a:solidFill>
              </a:rPr>
              <a:t>Morales-Moreno, personal communication, Dec 2nd 2025</a:t>
            </a:r>
            <a:endParaRPr>
              <a:solidFill>
                <a:schemeClr val="dk1"/>
              </a:solidFill>
            </a:endParaRPr>
          </a:p>
          <a:p>
            <a:pPr indent="0" lvl="0" marL="0" rtl="0" algn="l">
              <a:spcBef>
                <a:spcPts val="1200"/>
              </a:spcBef>
              <a:spcAft>
                <a:spcPts val="1200"/>
              </a:spcAft>
              <a:buNone/>
            </a:pPr>
            <a:r>
              <a:rPr lang="en-GB">
                <a:solidFill>
                  <a:schemeClr val="dk1"/>
                </a:solidFill>
              </a:rPr>
              <a:t>Spring Stats class (2025).VCentials Project 2025 :  Analyzing Why People Leave With No Items at VCentials Market​</a:t>
            </a:r>
            <a:r>
              <a:rPr i="1" lang="en-GB">
                <a:solidFill>
                  <a:schemeClr val="dk1"/>
                </a:solidFill>
              </a:rPr>
              <a:t>, volume(number),</a:t>
            </a:r>
            <a:r>
              <a:rPr lang="en-GB">
                <a:solidFill>
                  <a:schemeClr val="dk1"/>
                </a:solidFill>
              </a:rPr>
              <a:t>https://mailvalenciacc-my.sharepoint.com/:p:/r/personal/mbavegehims_mail_valenciacollege_edu/_layouts/15/Doc.aspx?sourcedoc=%7B55DE9EA5-E93A-4E08-8B64-5815D132BBF8%7D&amp;file=VCentials%20Presentation%20Spring%202025%20Copy%20(1).pptx&amp;action=edit&amp;mobileredirect=true&amp;DefaultItemOpen=1&amp;wdOrigin=APPHOME-WEB.DIRECT%2CAPPHOME-WEB.FILEBROWSER.RECENT&amp;wdPreviousSession=19dd556e-4444-41fd-8117-86d2439ddf8c&amp;wdPreviousSessionSrc=AppHomeWeb&amp;ct=1764790905648</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